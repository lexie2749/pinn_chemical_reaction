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8"/>
    <p:restoredTop sz="93493"/>
  </p:normalViewPr>
  <p:slideViewPr>
    <p:cSldViewPr snapToGrid="0">
      <p:cViewPr varScale="1">
        <p:scale>
          <a:sx n="97" d="100"/>
          <a:sy n="97" d="100"/>
        </p:scale>
        <p:origin x="3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10ED-27A5-5E54-3911-7B1A39A42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0FEF32-7F17-8B7C-089A-36D1277337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338771-A975-7026-E266-1C813DEB0BF9}"/>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0CE6B51E-325E-EE0B-E6B0-915DE7B4C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1618EB-902E-A57E-13FD-85C0C6B77BF4}"/>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43111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D76E-9495-33C8-DBF4-6830065929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EA5040-97AE-09A5-EDEE-3F19A910D5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4FA84-FBB3-22B6-4759-FB3792E89471}"/>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40595B34-F3F5-A52A-BB0D-39AE316D2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DB44D-00E1-D4CA-D6BE-28F04FFD1BC2}"/>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243408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0F698-A43A-56F3-B084-EE0BF107C5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1961BC-16BB-B3FE-1C8A-F9971D795E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C42876-ABA0-EABD-B833-2613E961A42F}"/>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650118F6-3131-DBA4-D490-E25F70219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2A4C4-056C-45F0-5E0E-65503A25BE25}"/>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714095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7690-5BA7-B056-722A-0C5DC260A8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AEBD7F-3037-71CA-2683-73385AA834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AD622C-93D8-C809-5B83-35273B1165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30E23B-82C7-5F43-4948-081D20C7B1EB}"/>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6" name="Footer Placeholder 5">
            <a:extLst>
              <a:ext uri="{FF2B5EF4-FFF2-40B4-BE49-F238E27FC236}">
                <a16:creationId xmlns:a16="http://schemas.microsoft.com/office/drawing/2014/main" id="{5EDD19D0-7FAE-9EA2-8F84-70FF1966EB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1C182B-5B71-BA4C-B965-3401BFDF8CFB}"/>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1586747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3E4C1-0AD4-7095-7E09-E08892C443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5BCC7C-8EF9-24B8-66F0-01A9BB7CF0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2C144A-9F5E-E237-47F2-147DB1893F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03A516-4925-D0F3-DA67-09B5F30256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E5B6FD-539A-B87A-1AA8-72BCC9537C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C5DC9E-D43A-D130-3812-951D4BB1B4D8}"/>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8" name="Footer Placeholder 7">
            <a:extLst>
              <a:ext uri="{FF2B5EF4-FFF2-40B4-BE49-F238E27FC236}">
                <a16:creationId xmlns:a16="http://schemas.microsoft.com/office/drawing/2014/main" id="{F8B89E38-4CCA-B919-7300-C50B2A97C6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406AA6-761B-A2CF-E250-194717B0A3FB}"/>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13357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99DFE-D8FE-B62A-84AF-4503953E25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C29793-2C15-CFB4-D587-E229F6856C10}"/>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4" name="Footer Placeholder 3">
            <a:extLst>
              <a:ext uri="{FF2B5EF4-FFF2-40B4-BE49-F238E27FC236}">
                <a16:creationId xmlns:a16="http://schemas.microsoft.com/office/drawing/2014/main" id="{FF1BAAE9-66F5-6475-B757-B4C9BED54C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4F10DB-CC3A-E4C8-F8B6-D966B74CC85C}"/>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3873779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19E265-B4EB-4C7C-DEEB-FA7027283E2C}"/>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3" name="Footer Placeholder 2">
            <a:extLst>
              <a:ext uri="{FF2B5EF4-FFF2-40B4-BE49-F238E27FC236}">
                <a16:creationId xmlns:a16="http://schemas.microsoft.com/office/drawing/2014/main" id="{136C8B14-0F23-752F-8D5D-9FEFAE5287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AC2F5D-6576-3A90-7FD4-A2EEBD095D5F}"/>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4004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B22F-9D87-A55F-A118-C105B39E18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A07346-575A-E201-84B0-4E6504075A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3BA619-BFED-4004-FB7C-AF81FDAC2D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ECEAB-6B82-B5C3-6522-B7FDBD9309D5}"/>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6" name="Footer Placeholder 5">
            <a:extLst>
              <a:ext uri="{FF2B5EF4-FFF2-40B4-BE49-F238E27FC236}">
                <a16:creationId xmlns:a16="http://schemas.microsoft.com/office/drawing/2014/main" id="{4F4271E1-124A-A10F-924E-EF5C74381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203225-1BA0-9384-6C97-8A9A565791B0}"/>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350719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AA28A-9FFF-CC88-64C8-52D4CCBE2F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A077FC-1D74-D0E5-76C2-27D3AD43D6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AFE2E9-A2BD-FA30-66C5-5AA998EB8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6CD7E-1CE1-7726-0CF1-DCF2E39D9C85}"/>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6" name="Footer Placeholder 5">
            <a:extLst>
              <a:ext uri="{FF2B5EF4-FFF2-40B4-BE49-F238E27FC236}">
                <a16:creationId xmlns:a16="http://schemas.microsoft.com/office/drawing/2014/main" id="{196DB3A0-D8D5-BD85-541C-A350C25FF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80EDD-9F5A-6315-FC46-3C767F6AC6EB}"/>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4006770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7532B-8E11-584F-9897-49C542DD64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5558FA-46CA-0545-14A1-D64D05D8E9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6B7A1-2CF6-8AC4-21D0-523E1430FCB6}"/>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9C4BE63B-945F-B6C1-A508-43B28F888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B0FB30-0E8A-3E76-8327-AD78B6A66AAF}"/>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2911605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E706C9-B958-900C-7438-1D3B6B1F19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89E070-2864-C204-CA2C-5CAC3E7D63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1852AD-3DA5-021A-B248-183F3B63FCEF}"/>
              </a:ext>
            </a:extLst>
          </p:cNvPr>
          <p:cNvSpPr>
            <a:spLocks noGrp="1"/>
          </p:cNvSpPr>
          <p:nvPr>
            <p:ph type="dt" sz="half" idx="10"/>
          </p:nvPr>
        </p:nvSpPr>
        <p:spPr/>
        <p:txBody>
          <a:body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AC011525-6314-CD90-78E4-549EDAB3E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5BE45D-1269-9E2E-4977-F1BDD54E2258}"/>
              </a:ext>
            </a:extLst>
          </p:cNvPr>
          <p:cNvSpPr>
            <a:spLocks noGrp="1"/>
          </p:cNvSpPr>
          <p:nvPr>
            <p:ph type="sldNum" sz="quarter" idx="12"/>
          </p:nvPr>
        </p:nvSpPr>
        <p:spPr/>
        <p:txBody>
          <a:bodyPr/>
          <a:lstStyle/>
          <a:p>
            <a:fld id="{5CE451F8-5A38-7D41-AE0B-3F7FAFA5F67F}" type="slidenum">
              <a:rPr lang="en-US" smtClean="0"/>
              <a:t>‹#›</a:t>
            </a:fld>
            <a:endParaRPr lang="en-US"/>
          </a:p>
        </p:txBody>
      </p:sp>
    </p:spTree>
    <p:extLst>
      <p:ext uri="{BB962C8B-B14F-4D97-AF65-F5344CB8AC3E}">
        <p14:creationId xmlns:p14="http://schemas.microsoft.com/office/powerpoint/2010/main" val="185517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F4ED74-CE8F-47B5-7C20-3D2749A13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CE2118-28DF-7B14-6605-0A11231231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79232-3BCD-D1CD-9730-7001E1742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FAD03-E6E7-BB42-BEE9-8F9C31369EC1}" type="datetimeFigureOut">
              <a:rPr lang="en-US" smtClean="0"/>
              <a:t>1/23/26</a:t>
            </a:fld>
            <a:endParaRPr lang="en-US"/>
          </a:p>
        </p:txBody>
      </p:sp>
      <p:sp>
        <p:nvSpPr>
          <p:cNvPr id="5" name="Footer Placeholder 4">
            <a:extLst>
              <a:ext uri="{FF2B5EF4-FFF2-40B4-BE49-F238E27FC236}">
                <a16:creationId xmlns:a16="http://schemas.microsoft.com/office/drawing/2014/main" id="{0D7A1FDE-666C-3864-C399-30A8E67265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551FCC-0644-C12F-380E-9AD9F90BBF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E451F8-5A38-7D41-AE0B-3F7FAFA5F67F}" type="slidenum">
              <a:rPr lang="en-US" smtClean="0"/>
              <a:t>‹#›</a:t>
            </a:fld>
            <a:endParaRPr lang="en-US"/>
          </a:p>
        </p:txBody>
      </p:sp>
    </p:spTree>
    <p:extLst>
      <p:ext uri="{BB962C8B-B14F-4D97-AF65-F5344CB8AC3E}">
        <p14:creationId xmlns:p14="http://schemas.microsoft.com/office/powerpoint/2010/main" val="3190711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DEA4-6DBF-BDB2-F265-8A2DAE6208BF}"/>
              </a:ext>
            </a:extLst>
          </p:cNvPr>
          <p:cNvSpPr>
            <a:spLocks noGrp="1"/>
          </p:cNvSpPr>
          <p:nvPr>
            <p:ph type="ctrTitle"/>
          </p:nvPr>
        </p:nvSpPr>
        <p:spPr/>
        <p:txBody>
          <a:bodyPr/>
          <a:lstStyle/>
          <a:p>
            <a:r>
              <a:rPr lang="en-US" dirty="0"/>
              <a:t>surf</a:t>
            </a:r>
          </a:p>
        </p:txBody>
      </p:sp>
      <p:sp>
        <p:nvSpPr>
          <p:cNvPr id="3" name="Subtitle 2">
            <a:extLst>
              <a:ext uri="{FF2B5EF4-FFF2-40B4-BE49-F238E27FC236}">
                <a16:creationId xmlns:a16="http://schemas.microsoft.com/office/drawing/2014/main" id="{7F46B459-A151-2795-6FEF-D5ED42D88747}"/>
              </a:ext>
            </a:extLst>
          </p:cNvPr>
          <p:cNvSpPr>
            <a:spLocks noGrp="1"/>
          </p:cNvSpPr>
          <p:nvPr>
            <p:ph type="subTitle" idx="1"/>
          </p:nvPr>
        </p:nvSpPr>
        <p:spPr/>
        <p:txBody>
          <a:bodyPr/>
          <a:lstStyle/>
          <a:p>
            <a:r>
              <a:rPr lang="en-US" dirty="0"/>
              <a:t>Lexie</a:t>
            </a:r>
          </a:p>
          <a:p>
            <a:r>
              <a:rPr lang="en-US" dirty="0"/>
              <a:t>2026.1.23</a:t>
            </a:r>
          </a:p>
        </p:txBody>
      </p:sp>
    </p:spTree>
    <p:extLst>
      <p:ext uri="{BB962C8B-B14F-4D97-AF65-F5344CB8AC3E}">
        <p14:creationId xmlns:p14="http://schemas.microsoft.com/office/powerpoint/2010/main" val="2598516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1B90-AA6F-2CA4-E5DD-91301BD0F133}"/>
              </a:ext>
            </a:extLst>
          </p:cNvPr>
          <p:cNvSpPr>
            <a:spLocks noGrp="1"/>
          </p:cNvSpPr>
          <p:nvPr>
            <p:ph type="title"/>
          </p:nvPr>
        </p:nvSpPr>
        <p:spPr/>
        <p:txBody>
          <a:bodyPr/>
          <a:lstStyle/>
          <a:p>
            <a:r>
              <a:rPr lang="en-US" dirty="0"/>
              <a:t>Inputs and outputs</a:t>
            </a:r>
          </a:p>
        </p:txBody>
      </p:sp>
      <p:sp>
        <p:nvSpPr>
          <p:cNvPr id="3" name="Content Placeholder 2">
            <a:extLst>
              <a:ext uri="{FF2B5EF4-FFF2-40B4-BE49-F238E27FC236}">
                <a16:creationId xmlns:a16="http://schemas.microsoft.com/office/drawing/2014/main" id="{F9CB7741-313E-38EF-9B54-1205D739F6CE}"/>
              </a:ext>
            </a:extLst>
          </p:cNvPr>
          <p:cNvSpPr>
            <a:spLocks noGrp="1"/>
          </p:cNvSpPr>
          <p:nvPr>
            <p:ph idx="1"/>
          </p:nvPr>
        </p:nvSpPr>
        <p:spPr/>
        <p:txBody>
          <a:bodyPr>
            <a:normAutofit/>
          </a:bodyPr>
          <a:lstStyle/>
          <a:p>
            <a:r>
              <a:rPr lang="en-US" b="0" i="0" u="none" strike="noStrike" dirty="0">
                <a:solidFill>
                  <a:srgbClr val="000000"/>
                </a:solidFill>
                <a:effectLst/>
                <a:latin typeface="-webkit-standard"/>
              </a:rPr>
              <a:t>Input: </a:t>
            </a:r>
            <a:r>
              <a:rPr lang="en-US" dirty="0"/>
              <a:t>[</a:t>
            </a:r>
            <a:r>
              <a:rPr lang="en-US" dirty="0" err="1"/>
              <a:t>X_species</a:t>
            </a:r>
            <a:r>
              <a:rPr lang="en-US" dirty="0"/>
              <a:t> (9), rho/rho0, T/T0, log(dt)]</a:t>
            </a:r>
            <a:r>
              <a:rPr lang="en-US" b="0" i="0" u="none" strike="noStrike" dirty="0">
                <a:solidFill>
                  <a:srgbClr val="000000"/>
                </a:solidFill>
                <a:effectLst/>
                <a:latin typeface="-webkit-standard"/>
              </a:rPr>
              <a:t> → 12 features</a:t>
            </a:r>
          </a:p>
          <a:p>
            <a:r>
              <a:rPr lang="en-US" sz="2200" b="0" i="0" dirty="0">
                <a:solidFill>
                  <a:srgbClr val="000000"/>
                </a:solidFill>
                <a:effectLst/>
              </a:rPr>
              <a:t>for the time, log scale would be better, because time scales change a lot and if not the neural network would not be able to predict super tiny changes. The same applies for concentrations, they should be in log scale, because the tiny changes if not are not going to be appreciated by the NN. In general, it is known that setting inputs so that they are all of the same order of magnitude works better.</a:t>
            </a:r>
            <a:endParaRPr lang="en-US" sz="2200" b="0" i="0" u="none" strike="noStrike" dirty="0">
              <a:solidFill>
                <a:srgbClr val="000000"/>
              </a:solidFill>
              <a:effectLst/>
              <a:latin typeface="-webkit-standard"/>
            </a:endParaRPr>
          </a:p>
          <a:p>
            <a:r>
              <a:rPr lang="en-US" b="0" i="0" u="none" strike="noStrike" dirty="0">
                <a:solidFill>
                  <a:srgbClr val="000000"/>
                </a:solidFill>
                <a:effectLst/>
                <a:latin typeface="-webkit-standard"/>
              </a:rPr>
              <a:t>Output: </a:t>
            </a:r>
            <a:r>
              <a:rPr lang="en-US" dirty="0"/>
              <a:t>[</a:t>
            </a:r>
            <a:r>
              <a:rPr lang="en-US" dirty="0" err="1"/>
              <a:t>X_species</a:t>
            </a:r>
            <a:r>
              <a:rPr lang="en-US" dirty="0"/>
              <a:t> (9), rho/rho0, T/T0]</a:t>
            </a:r>
            <a:r>
              <a:rPr lang="en-US" b="0" i="0" u="none" strike="noStrike" dirty="0">
                <a:solidFill>
                  <a:srgbClr val="000000"/>
                </a:solidFill>
                <a:effectLst/>
                <a:latin typeface="-webkit-standard"/>
              </a:rPr>
              <a:t> → 11 features</a:t>
            </a:r>
          </a:p>
          <a:p>
            <a:r>
              <a:rPr lang="en-US" sz="2200" b="0" i="0" dirty="0">
                <a:solidFill>
                  <a:srgbClr val="000000"/>
                </a:solidFill>
                <a:effectLst/>
              </a:rPr>
              <a:t>You could use a reference pressure an temperature to non-</a:t>
            </a:r>
            <a:r>
              <a:rPr lang="en-US" sz="2200" b="0" i="0" dirty="0" err="1">
                <a:solidFill>
                  <a:srgbClr val="000000"/>
                </a:solidFill>
                <a:effectLst/>
              </a:rPr>
              <a:t>dimensionalize</a:t>
            </a:r>
            <a:r>
              <a:rPr lang="en-US" sz="2200" b="0" i="0" dirty="0">
                <a:solidFill>
                  <a:srgbClr val="000000"/>
                </a:solidFill>
                <a:effectLst/>
              </a:rPr>
              <a:t> the inputs. For example, give the network, T/T0 and P/P0, where 0 values are standard values at atmospheric conditions. T0 = 293K and P0 = 1atm. Also it might work better if you put inputs in log scale, log(T/T0) and log(P/P0). You can try the two variants.</a:t>
            </a:r>
            <a:endParaRPr lang="en-US" sz="2200" b="0" i="0" u="none" strike="noStrike" dirty="0">
              <a:solidFill>
                <a:srgbClr val="000000"/>
              </a:solidFill>
              <a:effectLst/>
              <a:latin typeface="-webkit-standard"/>
            </a:endParaRPr>
          </a:p>
          <a:p>
            <a:endParaRPr lang="en-US" dirty="0"/>
          </a:p>
        </p:txBody>
      </p:sp>
    </p:spTree>
    <p:extLst>
      <p:ext uri="{BB962C8B-B14F-4D97-AF65-F5344CB8AC3E}">
        <p14:creationId xmlns:p14="http://schemas.microsoft.com/office/powerpoint/2010/main" val="1275117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A623-2BBA-8D74-2B23-1DBBFC52352E}"/>
              </a:ext>
            </a:extLst>
          </p:cNvPr>
          <p:cNvSpPr>
            <a:spLocks noGrp="1"/>
          </p:cNvSpPr>
          <p:nvPr>
            <p:ph type="title"/>
          </p:nvPr>
        </p:nvSpPr>
        <p:spPr/>
        <p:txBody>
          <a:bodyPr/>
          <a:lstStyle/>
          <a:p>
            <a:r>
              <a:rPr lang="en-US" dirty="0"/>
              <a:t>Species </a:t>
            </a:r>
          </a:p>
        </p:txBody>
      </p:sp>
      <p:sp>
        <p:nvSpPr>
          <p:cNvPr id="3" name="Content Placeholder 2">
            <a:extLst>
              <a:ext uri="{FF2B5EF4-FFF2-40B4-BE49-F238E27FC236}">
                <a16:creationId xmlns:a16="http://schemas.microsoft.com/office/drawing/2014/main" id="{0EE87B5C-7BD8-86F9-30A7-D2C5D304089F}"/>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rPr>
              <a:t>Molar fractions of species. X</a:t>
            </a:r>
            <a:r>
              <a:rPr lang="en-US" b="0" i="1" dirty="0">
                <a:solidFill>
                  <a:srgbClr val="000000"/>
                </a:solidFill>
                <a:effectLst/>
              </a:rPr>
              <a:t>i = </a:t>
            </a:r>
            <a:r>
              <a:rPr lang="en-US" b="0" i="1" dirty="0" err="1">
                <a:solidFill>
                  <a:srgbClr val="000000"/>
                </a:solidFill>
                <a:effectLst/>
              </a:rPr>
              <a:t>n</a:t>
            </a:r>
            <a:r>
              <a:rPr lang="en-US" b="0" i="0" dirty="0" err="1">
                <a:solidFill>
                  <a:srgbClr val="000000"/>
                </a:solidFill>
                <a:effectLst/>
              </a:rPr>
              <a:t>i</a:t>
            </a:r>
            <a:r>
              <a:rPr lang="en-US" b="0" i="0" dirty="0">
                <a:solidFill>
                  <a:srgbClr val="000000"/>
                </a:solidFill>
                <a:effectLst/>
              </a:rPr>
              <a:t>/N</a:t>
            </a:r>
          </a:p>
          <a:p>
            <a:pPr algn="l">
              <a:buFont typeface="Arial" panose="020B0604020202020204" pitchFamily="34" charset="0"/>
              <a:buChar char="•"/>
            </a:pPr>
            <a:r>
              <a:rPr lang="en-US" b="0" i="0" dirty="0">
                <a:solidFill>
                  <a:srgbClr val="000000"/>
                </a:solidFill>
                <a:effectLst/>
              </a:rPr>
              <a:t>Specify mixture state, P = (n*W/V) * (R/W) * T: two parameters. rho = (n*W/V), </a:t>
            </a:r>
            <a:r>
              <a:rPr lang="en-US" b="0" i="0" dirty="0" err="1">
                <a:solidFill>
                  <a:srgbClr val="000000"/>
                </a:solidFill>
                <a:effectLst/>
              </a:rPr>
              <a:t>Rg</a:t>
            </a:r>
            <a:r>
              <a:rPr lang="en-US" b="0" i="0" dirty="0">
                <a:solidFill>
                  <a:srgbClr val="000000"/>
                </a:solidFill>
                <a:effectLst/>
              </a:rPr>
              <a:t> = (R/W). P = rho * </a:t>
            </a:r>
            <a:r>
              <a:rPr lang="en-US" b="0" i="0" dirty="0" err="1">
                <a:solidFill>
                  <a:srgbClr val="000000"/>
                </a:solidFill>
                <a:effectLst/>
              </a:rPr>
              <a:t>Rg</a:t>
            </a:r>
            <a:r>
              <a:rPr lang="en-US" b="0" i="0" dirty="0">
                <a:solidFill>
                  <a:srgbClr val="000000"/>
                </a:solidFill>
                <a:effectLst/>
              </a:rPr>
              <a:t> * T. Two parameters: rho, T.</a:t>
            </a:r>
          </a:p>
          <a:p>
            <a:endParaRPr lang="en-US" dirty="0"/>
          </a:p>
        </p:txBody>
      </p:sp>
    </p:spTree>
    <p:extLst>
      <p:ext uri="{BB962C8B-B14F-4D97-AF65-F5344CB8AC3E}">
        <p14:creationId xmlns:p14="http://schemas.microsoft.com/office/powerpoint/2010/main" val="1606139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CCBD-A4E6-A4D1-AFCB-E265E5D97363}"/>
              </a:ext>
            </a:extLst>
          </p:cNvPr>
          <p:cNvSpPr>
            <a:spLocks noGrp="1"/>
          </p:cNvSpPr>
          <p:nvPr>
            <p:ph type="title"/>
          </p:nvPr>
        </p:nvSpPr>
        <p:spPr/>
        <p:txBody>
          <a:bodyPr/>
          <a:lstStyle/>
          <a:p>
            <a:r>
              <a:rPr lang="en-US" dirty="0"/>
              <a:t>Governing equations </a:t>
            </a:r>
          </a:p>
        </p:txBody>
      </p:sp>
      <p:sp>
        <p:nvSpPr>
          <p:cNvPr id="3" name="Content Placeholder 2">
            <a:extLst>
              <a:ext uri="{FF2B5EF4-FFF2-40B4-BE49-F238E27FC236}">
                <a16:creationId xmlns:a16="http://schemas.microsoft.com/office/drawing/2014/main" id="{EF44F8AD-0BA3-2D37-0491-170BF4FFACEB}"/>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rPr>
              <a:t>Constant mass: conservation of number of atoms. As many equations as different type of atoms.</a:t>
            </a:r>
          </a:p>
          <a:p>
            <a:pPr algn="l">
              <a:buFont typeface="Arial" panose="020B0604020202020204" pitchFamily="34" charset="0"/>
              <a:buChar char="•"/>
            </a:pPr>
            <a:r>
              <a:rPr lang="en-US" b="0" i="0" dirty="0">
                <a:solidFill>
                  <a:srgbClr val="000000"/>
                </a:solidFill>
                <a:effectLst/>
              </a:rPr>
              <a:t>Constant volume, constant energy.</a:t>
            </a:r>
          </a:p>
          <a:p>
            <a:endParaRPr lang="en-US" dirty="0"/>
          </a:p>
        </p:txBody>
      </p:sp>
    </p:spTree>
    <p:extLst>
      <p:ext uri="{BB962C8B-B14F-4D97-AF65-F5344CB8AC3E}">
        <p14:creationId xmlns:p14="http://schemas.microsoft.com/office/powerpoint/2010/main" val="521197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920</TotalTime>
  <Words>306</Words>
  <Application>Microsoft Macintosh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-webkit-standard</vt:lpstr>
      <vt:lpstr>Aptos</vt:lpstr>
      <vt:lpstr>Aptos Display</vt:lpstr>
      <vt:lpstr>Arial</vt:lpstr>
      <vt:lpstr>Office Theme</vt:lpstr>
      <vt:lpstr>surf</vt:lpstr>
      <vt:lpstr>Inputs and outputs</vt:lpstr>
      <vt:lpstr>Species </vt:lpstr>
      <vt:lpstr>Governing equations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Xiaoxi Zhou</dc:creator>
  <cp:lastModifiedBy>Xiaoxi Zhou</cp:lastModifiedBy>
  <cp:revision>1</cp:revision>
  <dcterms:created xsi:type="dcterms:W3CDTF">2026-01-23T08:52:34Z</dcterms:created>
  <dcterms:modified xsi:type="dcterms:W3CDTF">2026-01-24T00:13:29Z</dcterms:modified>
</cp:coreProperties>
</file>