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5" r:id="rId8"/>
    <p:sldId id="266" r:id="rId9"/>
    <p:sldId id="261" r:id="rId10"/>
    <p:sldId id="262" r:id="rId11"/>
    <p:sldId id="267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54"/>
    <p:restoredTop sz="96047"/>
  </p:normalViewPr>
  <p:slideViewPr>
    <p:cSldViewPr snapToGrid="0">
      <p:cViewPr>
        <p:scale>
          <a:sx n="97" d="100"/>
          <a:sy n="97" d="100"/>
        </p:scale>
        <p:origin x="-608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29.0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24575,'24'0'0,"10"0"0,20 0 0,17 0 0,-1 0 0,8 0 0,-2 0 0,-13 0 0,12 0 0,-20 0 0,-7 0 0,-2 0 0,-16 0 0,2 0 0,-5 0 0,-1 0 0,-5 0 0,-3 0 0,-2 0 0,-5 0 0,-1 0 0,0 0 0,-2 0 0,0 0 0,0 0 0,-2 0 0,0 0 0,1 0 0,0 0 0,0 0 0,-3 0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44.2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24575,'0'13'0,"0"6"0,0 2 0,0 14 0,0-3 0,0 5 0,0-3 0,0-13 0,0 3 0,0-8 0,0 2 0,0-4 0,0-7 0,0-1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25.3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57 256 24575,'0'13'0,"0"1"0,0 2 0,0 2 0,0-3 0,0-9 0,0-14 0,0-10 0,0-10 0,-3-3 0,-1-6 0,-2-5 0,-2 1 0,3 3 0,-2 6 0,1 7 0,1 5 0,0 6 0,1 10 0,2 9 0,1 11 0,1 10 0,0 5 0,0 4 0,0 1 0,0-2 0,0 0 0,0-4 0,0-2 0,0-4 0,0-4 0,0-3 0,0-2 0,0 1 0,0-2 0,0-2 0,1-4 0,2-4 0,0-5 0,2-7 0,-2-12 0,-1-12 0,0-5 0,-1-2 0,-1 3 0,0 5 0,0 2 0,0 6 0,2 10 0,0 8 0,2 8 0,-2 9 0,0 4 0,-2 5 0,0-2 0,0 0 0,0-2 0,0-3 0,0-2 0,0-4 0,0-1 0,0-3 0,0-1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34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24575,'0'13'0,"0"4"0,0 1 0,0 3 0,0-1 0,0 2 0,0 0 0,0-3 0,0-2 0,0-3 0,0 0 0,0-2 0,0 2 0,0-1 0,0 1 0,0-1 0,0-2 0,0-5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35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24575,'0'17'0,"0"6"0,0 5 0,0 6 0,0 2 0,0-1 0,0-3 0,0-7 0,0-8 0,0-2 0,0-3 0,0-1 0,0 1 0,0-1 0,0-4 0,0-3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36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24575,'0'13'0,"0"10"0,0 12 0,0 7 0,0 6 0,0 4 0,0-2 0,0-5 0,0-1 0,0-4 0,0 3 0,0-5 0,0-12 0,0-7 0,0-5 0,0-9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38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24575,'0'13'0,"0"4"0,0 7 0,0 4 0,0-1 0,0 1 0,0 0 0,0 0 0,0-2 0,0-8 0,0-10 0,0-3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40.1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24575,'0'17'0,"0"0"0,0 7 0,0 2 0,0 3 0,0 5 0,0-4 0,0 2 0,0-4 0,0-4 0,0-3 0,0-7 0,0-2 0,0-1 0,0-3 0,0 0 0,0-2 0,0 0 0,0 0 0,0 1 0,0-3 0,0-1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41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24575,'-4'4'0,"1"16"0,3 15 0,0 10 0,0 11 0,0 1 0,0-2 0,0 6 0,0-5 0,0-9 0,0-3 0,0-11 0,0-9 0,0-8 0,0-6 0,0-4 0,0-3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42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24575,'0'12'0,"0"7"0,0 3 0,0 2 0,0 0 0,0-3 0,0 0 0,0-4 0,0-6 0,0-7 0,0-1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43.1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24575,'0'20'0,"0"6"0,0 8 0,0 8 0,0 6 0,0 3 0,0-7 0,0-8 0,0-2 0,0-10 0,0-1 0,0-4 0,0-14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50.8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5456 24575,'23'-20'0,"13"-12"-9831,32-32 9086,-24 23 0,4-4 745,10-13 0,3-6-193,-13 12 1,3-2-1,2-4 193,-2 1 0,3-3 0,2-3 0,2-1 0,-5 4 0,2-1 0,2-2 0,0-1 0,0 0-279,6-7 1,2 0 0,0-2 0,-1 0 0,0 1 278,-3 3 0,0 0 0,0 0 0,-2 1 0,-3 3 0,4-4 0,-2 2 0,-2 3 0,-1 1-399,6-10 0,-1 3 0,-2 2 399,-4 8 0,-2 2 0,1-1 0,4-3 0,0 0 0,1 0 0,0-2 0,1-1 0,0 1 0,-1 1 0,0 0 0,-1 3 0,-7 6 0,-2 3 0,-1 1 0,17-17 0,-3 4 1307,-6 8 1,-2 2-1308,-7 8 0,-1 2 0,-1 2 0,-1 1 0,0 0 0,-1 1 0,-1 0 0,-1 0-608,2-1 0,-1 0 608,-4 4 0,-1-1 0,0 1 0,0 0 1594,2-2 0,0 0-1594,0-2 0,1-1 0,3-5 0,1 0 0,-5 3 0,-1 0 0,3-5 0,-1 1 0,-2 3 0,-1 1 0,1-4 0,1 0 0,1 1 0,-1 0 0,22-25 0,5-3 0,-6 16 0,-2 7 0,5 1 0,-2 8 1956,7-2-1956,12-1 0,-32 21 0,2 1 0,3 0 0,2 1 0,6 0 0,2 0-627,6 0 0,2 0 627,5 0 0,2 1 0,3 0 0,1 1 0,3 0 0,-2 1 0,-7 2 0,-1 2-1731,0 1 0,0 1 1731,-7 1 0,-1 2-33,-9 2 1,-2 2 32,0 0 0,-2 2 0,34 1 0,8 1 0,3 2 0,-4 0 0,-6 2 0,-7 6 0,1 8 0,5 10 0,6 6 0,-2 2 0,-43-15 0,-1 2 0,4 2 0,0 2 0,1 2 0,2 1 0,3 4 0,1 1 381,-1 0 1,-1 2-382,-2-1 0,-1 0 0,-7-2 0,-3 0 0,34 28 4077,-12-6-4077,-9-1 0,9 9 0,-7-6 0,-7-7 6239,-1 1-6239,-4-4 0,10 10 0,5 7 0,0 3 0,-28-28 0,0 2-170,0 3 0,0 2 170,2 5 0,1 0 0,1 4 0,-1 1 0,0-1 0,1 0 0,1 3 0,-1-1 0,-1-1 0,-1-2 491,-4-8 1,-2-2-492,20 29 0,2-3 0,-4-7 0,12 14 0,1 1 0,-7-11 0,4 4 0,1 0 0,5 2 0,-30-32 0,1 1 0,1 1 0,2 1-704,-1 2 0,1 0 704,1 2 0,-1-1 0,-3-7 0,-2-2 0,27 34-516,2-2 516,-2-4 0,5 6 0,-6-10 624,-8-13-624,5 5 0,-5-6 0,7 0 0,-7-7 0,-7-13 1638,3-1-1638,-6-5 582,14 4-582,9 0 0,5-3 0,5-1 0,-1-6 0,4 2 83,-6-3-83,-3 0 0,-1-1 0,-7-4 0,2-1 0,-5-4 0,-3 0-6784,6 0 6784,-4-1 0,-6-1 0,-6-1 0,-6-1 0,0 0 0,0 0 0,-1 0 6784,0-2-6784,-1-3 0,-2-1 0,-1-1 0,-1-1 0,-1 0 0,-2 1 0,-4 0 0,-5 1 0,-2 2 0,-3 0 0,-3 2 0,-2 1 0,-2 1 0,-4 0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21.1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10 262 24575,'1'-15'0,"1"0"0,-7-10 0,3 1 0,-1 0 0,1 1 0,2 2 0,0 2 0,-1 1 0,1 2 0,0 1 0,0 0 0,0 5 0,0 0 0,0 2 0,0 4 0,0 18 0,0-2 0,0 15 0,0-4 0,0 2 0,0 0 0,0 0 0,0-3 0,0-3 0,0-3 0,0-3 0,2-1 0,0-3 0,-1-2 0,1-1 0,-2 0 0,0-2 0,0-5 0,0-7 0,0-6 0,0-5 0,0-1 0,0 0 0,0 0 0,0 4 0,0 3 0,0 2 0,0 0 0,0 5 0,0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22.5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47 168 24575,'0'7'0,"0"0"0,0 0 0,0 0 0,0-1 0,0 0 0,0-1 0,0 1 0,0 1 0,0 0 0,0 0 0,0-3 0,0-3 0,0-5 0,-1-5 0,-1-5 0,-2-2 0,1-4 0,-2-5 0,-1-1 0,1-1 0,1 0 0,1 6 0,1 2 0,-1 4 0,0 2 0,0 4 0,1 13 0,2 10 0,-1 8 0,1 2 0,0-3 0,0 0 0,0-1 0,0 0 0,0-3 0,2-4 0,-1-3 0,1-3 0,0 1 0,-2-1 0,1-1 0,0-2 0,0-1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23.7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 24575,'0'8'0,"0"2"0,0 11 0,0 10 0,0 6 0,0 4 0,0 0 0,0-5 0,0 0 0,0-4 0,0-4 0,0-5 0,0-7 0,0-8 0,0-8 0,0-6 0,0-4 0,0-3 0,1-1 0,1-3 0,0 1 0,0-1 0,-2-1 0,0 0 0,0-3 0,0 0 0,0 1 0,0 2 0,0 2 0,0 1 0,0 1 0,0 4 0,0 2 0,-1 4 0,0-1 0,-2 1 0,-1 3 0,2 2 0,1 3 0,1-1 0,-1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31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24575,'0'28'0,"0"4"0,0 0 0,0 1 0,0-1 0,0-1 0,0 3 0,0-3 0,0-2 0,0-4 0,0-4 0,0-3 0,0-3 0,0-4 0,0-2 0,0-2 0,0-1 0,0-3 0,0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33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24575,'0'11'0,"0"0"0,0 5 0,0 6 0,0 9 0,0 7 0,0-2 0,0 0 0,0-4 0,0-4 0,0 1 0,0-2 0,0-4 0,0-9 0,0-7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54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24575,'0'21'0,"0"5"0,0 9 0,0-2 0,0 1 0,0-3 0,0-1 0,0 0 0,0-7 0,0-4 0,0-6 0,0-5 0,0-4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55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24575,'0'13'0,"0"5"0,0 7 0,0 8 0,0 5 0,0 4 0,0 3 0,0-4 0,0-7 0,0-12 0,0-9 0,0-8 0,0-1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56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24575,'0'11'0,"0"6"0,0 7 0,0 0 0,0 0 0,0-4 0,0 2 0,0-1 0,0-5 0,0-7 0,0-5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42:56.6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24575,'0'9'0,"0"1"0,0 4 0,0-1 0,0 0 0,0-5 0,0-4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6D6BA-0989-CBED-582C-CC37AA7F9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1302A-8FCF-948C-D79A-EDE17A386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3674A-5AC5-3A22-7984-9ED0BB58F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90B35-F24C-605E-2FC3-6A4B34B0E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57D6A-1973-2F79-C817-DD7A07E32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51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3CA32-24F8-B83D-93C4-E6A9DB76F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E66A8-D480-F54B-DA8F-4BCF7E36A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D866D-F934-7A7D-43FD-4EA02EF7A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285A9-7B6D-A87A-045B-E5863B3D5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62833-7F19-DEEE-9705-76DB95B55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45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83925-E5D2-6CEC-A700-52205A6C1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D081F-700A-A816-B853-170666EB8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3044-57EE-C7BF-8C96-EA9B33628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15F03-334C-E58D-F9B1-DF3F129DE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66147-0978-B822-5C31-79947C508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006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9C8DC-A66D-99A5-38EE-E6618AA3A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1C505-160B-5B16-ECDD-069AD04E6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B6377-B369-1A48-6083-5C31F1315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558D8-54DC-F31F-7D79-ABBD3CF1A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50205-B499-744E-D8F8-404257F1A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C3133-99A9-79B1-F2B7-3B232BBC9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82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C93D5-3CA0-F88E-DA29-F490F7E80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1D551-FE75-B5BF-44FF-10A8C3A8F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3982A-B373-4524-85B5-A6EDD8125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2BE751-C4B4-0757-AB3B-F3E087E79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EDC35-D633-F624-207E-96895769F3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810CA1-9929-107D-00DA-2EE66084B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EA6C44-38DD-FF7B-12BC-3CB739EB0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3F7D9D-73DD-0CCB-F3CC-3FB0A8227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96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5FCB1-5FD6-7799-8164-DE5E4FDAA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CE007-C120-079C-A54C-23B92FFAC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2EAB0B-60D0-C3D4-CB18-B91CA7EE0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72DD33-1408-4FBB-E88C-0D495F62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73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97C70B-7088-8326-4B4C-FE0BB37D9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E1C88F-1AD0-20AA-5EFB-9D9E54D71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BEB9E-E95D-90DC-B566-91D021DD2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25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73BEB-C806-475B-D00C-DEA5E6DB3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54630-B31C-E0DC-EC42-CBED47882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987687-5539-99A0-7E99-ADF19F729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97D77-E055-1AFD-7E23-26E6852B5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C9C86-2D84-049E-C83B-C399A59DA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04F0A-B83B-0D17-2DC6-E26F9DEBA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21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A9A29-B738-F5D9-A394-757A4DEB2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817E8C-AFC8-8375-E047-3079980CEA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20096-FE84-1974-7CA7-75E641DC6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590C0-0735-4F29-7048-191EEEBB8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E4E8B-CC24-5482-A86B-18603AD9C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98461-EC23-B218-400C-F0C4D34D3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7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C56B6-372B-75EC-24E2-A64295207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6E022-8B29-6D24-6335-DE59B823C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562EA-9BED-9588-104A-117C51581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6B797-6A2D-2525-9C81-D9974F29A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5D5E0-5598-B4CA-496A-572B0B230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90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752131-0C8D-62C9-5C24-A1403BDB2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3A668-382B-B5B2-D54C-45616D14C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B2ABC-E0C3-8B53-1ECC-7168C4057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873C-DCF3-A041-AECD-539E78E16BC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F8F25-63D0-22D1-9D91-DCCF0602F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0BCB0-2EBD-9724-2113-EA82005AD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10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8E98B1-F0C4-2618-9E0F-7E2BE4CA8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B6F0E-9525-C75B-B480-8F050221C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69D0A-A843-4EAD-31AF-4A9EB8E8AD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BD873C-DCF3-A041-AECD-539E78E16BC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AF671-53EE-3EEA-36C8-1C54B5842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2405D-044F-7EBE-A9B5-4E27014DB4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B073D-5FE8-CB4E-AC0C-1CF1B3E9B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39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9" Type="http://schemas.openxmlformats.org/officeDocument/2006/relationships/image" Target="../media/image19.png"/><Relationship Id="rId21" Type="http://schemas.openxmlformats.org/officeDocument/2006/relationships/customXml" Target="../ink/ink10.xml"/><Relationship Id="rId34" Type="http://schemas.openxmlformats.org/officeDocument/2006/relationships/image" Target="../media/image17.png"/><Relationship Id="rId42" Type="http://schemas.openxmlformats.org/officeDocument/2006/relationships/customXml" Target="../ink/ink2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customXml" Target="../ink/ink14.xml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customXml" Target="../ink/ink18.xml"/><Relationship Id="rId40" Type="http://schemas.openxmlformats.org/officeDocument/2006/relationships/customXml" Target="../ink/ink20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43" Type="http://schemas.openxmlformats.org/officeDocument/2006/relationships/image" Target="../media/image21.png"/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customXml" Target="../ink/ink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33BA3-6D42-2E50-CA47-2CECA8A5C6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Surf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FEB20A-A0BC-ABD2-460A-C8EB8E1EA7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Lexie </a:t>
            </a:r>
          </a:p>
          <a:p>
            <a:r>
              <a:rPr lang="en-US" dirty="0"/>
              <a:t>10.30</a:t>
            </a:r>
          </a:p>
        </p:txBody>
      </p:sp>
    </p:spTree>
    <p:extLst>
      <p:ext uri="{BB962C8B-B14F-4D97-AF65-F5344CB8AC3E}">
        <p14:creationId xmlns:p14="http://schemas.microsoft.com/office/powerpoint/2010/main" val="4075820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drawing of a diagram&#10;&#10;AI-generated content may be incorrect.">
            <a:extLst>
              <a:ext uri="{FF2B5EF4-FFF2-40B4-BE49-F238E27FC236}">
                <a16:creationId xmlns:a16="http://schemas.microsoft.com/office/drawing/2014/main" id="{F5CE9D98-7F20-218E-054C-0C651E738A8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070009" y="222377"/>
            <a:ext cx="4586553" cy="42906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3222B5-F9FE-3BE7-36A6-40A65D93F53D}"/>
              </a:ext>
            </a:extLst>
          </p:cNvPr>
          <p:cNvSpPr txBox="1"/>
          <p:nvPr/>
        </p:nvSpPr>
        <p:spPr>
          <a:xfrm>
            <a:off x="356138" y="407963"/>
            <a:ext cx="371387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Activation operator: a function to add </a:t>
            </a:r>
            <a:r>
              <a:rPr lang="en-US" dirty="0" err="1"/>
              <a:t>nonlinearlity</a:t>
            </a:r>
            <a:r>
              <a:rPr lang="en-US" dirty="0"/>
              <a:t> to weight</a:t>
            </a:r>
          </a:p>
          <a:p>
            <a:r>
              <a:rPr lang="en-US" dirty="0"/>
              <a:t>Before: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After: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Source</a:t>
            </a:r>
            <a:r>
              <a:rPr lang="zh-CN" altLang="en-US" b="1" dirty="0"/>
              <a:t> </a:t>
            </a:r>
            <a:r>
              <a:rPr lang="en-US" altLang="zh-CN" b="1" dirty="0"/>
              <a:t>7</a:t>
            </a:r>
            <a:r>
              <a:rPr lang="zh-CN" altLang="en-US" b="1" dirty="0"/>
              <a:t> </a:t>
            </a:r>
            <a:r>
              <a:rPr lang="en-US" altLang="zh-CN" dirty="0" err="1"/>
              <a:t>ChemNODE</a:t>
            </a:r>
            <a:r>
              <a:rPr lang="en-US" altLang="zh-CN" dirty="0"/>
              <a:t> new machine learning method for chemical reaction and providing new choice of optimizer.</a:t>
            </a:r>
            <a:r>
              <a:rPr lang="zh-CN" altLang="en-US" dirty="0"/>
              <a:t> </a:t>
            </a:r>
            <a:r>
              <a:rPr lang="en-US" altLang="zh-CN" dirty="0"/>
              <a:t>(Paper: </a:t>
            </a:r>
            <a:r>
              <a:rPr lang="en-US" altLang="zh-CN" dirty="0" err="1"/>
              <a:t>ChemNODE</a:t>
            </a:r>
            <a:r>
              <a:rPr lang="en-US" altLang="zh-CN" dirty="0"/>
              <a:t>: A Neural Ordinary Differential Equations Framework for Efficient Chemical Kinetic Solvers)</a:t>
            </a:r>
            <a:r>
              <a:rPr lang="en-US" dirty="0"/>
              <a:t> </a:t>
            </a:r>
          </a:p>
        </p:txBody>
      </p:sp>
      <p:pic>
        <p:nvPicPr>
          <p:cNvPr id="8" name="Picture 7" descr="A black and white symbol&#10;&#10;AI-generated content may be incorrect.">
            <a:extLst>
              <a:ext uri="{FF2B5EF4-FFF2-40B4-BE49-F238E27FC236}">
                <a16:creationId xmlns:a16="http://schemas.microsoft.com/office/drawing/2014/main" id="{7F4DBC3C-537C-282A-3718-662D64E50E6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40204" y="1275832"/>
            <a:ext cx="2501900" cy="838200"/>
          </a:xfrm>
          <a:prstGeom prst="rect">
            <a:avLst/>
          </a:prstGeom>
        </p:spPr>
      </p:pic>
      <p:pic>
        <p:nvPicPr>
          <p:cNvPr id="12" name="Picture 11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DE621529-7515-8832-AB07-5F7CB5A7832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16454" y="2330279"/>
            <a:ext cx="1549400" cy="5969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067C67-C8B5-88E8-61A3-5B8C680CF2A2}"/>
              </a:ext>
            </a:extLst>
          </p:cNvPr>
          <p:cNvSpPr txBox="1"/>
          <p:nvPr/>
        </p:nvSpPr>
        <p:spPr>
          <a:xfrm>
            <a:off x="8657493" y="546462"/>
            <a:ext cx="353450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Data loss</a:t>
            </a:r>
          </a:p>
          <a:p>
            <a:r>
              <a:rPr lang="en-US" b="1" dirty="0"/>
              <a:t>source 3 </a:t>
            </a:r>
            <a:r>
              <a:rPr lang="en-US" dirty="0"/>
              <a:t>modeling turbulent combustion with data </a:t>
            </a:r>
            <a:r>
              <a:rPr lang="en-US" dirty="0" err="1"/>
              <a:t>constriants</a:t>
            </a:r>
            <a:r>
              <a:rPr lang="en-US" dirty="0"/>
              <a:t> (Physics-informed neural networks for modeling turbulent combustion)</a:t>
            </a:r>
          </a:p>
          <a:p>
            <a:endParaRPr lang="en-US" dirty="0"/>
          </a:p>
          <a:p>
            <a:r>
              <a:rPr lang="en-US" dirty="0"/>
              <a:t>Acquiring actual data from </a:t>
            </a:r>
            <a:r>
              <a:rPr lang="en-US" dirty="0" err="1"/>
              <a:t>cantera</a:t>
            </a:r>
            <a:endParaRPr lang="en-US" dirty="0"/>
          </a:p>
          <a:p>
            <a:endParaRPr lang="en-US" dirty="0"/>
          </a:p>
          <a:p>
            <a:r>
              <a:rPr lang="en-US" dirty="0"/>
              <a:t>Or calculate from source:</a:t>
            </a:r>
          </a:p>
          <a:p>
            <a:r>
              <a:rPr lang="en-US" b="1" dirty="0"/>
              <a:t>source 4 </a:t>
            </a:r>
            <a:r>
              <a:rPr lang="en-US" dirty="0"/>
              <a:t>calculating chemical combustion kinetics</a:t>
            </a:r>
          </a:p>
          <a:p>
            <a:r>
              <a:rPr lang="en-US" b="1" dirty="0"/>
              <a:t>source 5 </a:t>
            </a:r>
            <a:r>
              <a:rPr lang="en-US" dirty="0"/>
              <a:t>precomputation chemical reaction using kinetic monte </a:t>
            </a:r>
            <a:r>
              <a:rPr lang="en-US" dirty="0" err="1"/>
              <a:t>carlo</a:t>
            </a:r>
            <a:endParaRPr lang="en-US" dirty="0"/>
          </a:p>
          <a:p>
            <a:r>
              <a:rPr lang="en-US" b="1" dirty="0"/>
              <a:t>source 6 </a:t>
            </a:r>
            <a:r>
              <a:rPr lang="en-US" dirty="0"/>
              <a:t>kinetic monte </a:t>
            </a:r>
            <a:r>
              <a:rPr lang="en-US" dirty="0" err="1"/>
              <a:t>carlo</a:t>
            </a:r>
            <a:endParaRPr lang="en-US" dirty="0"/>
          </a:p>
          <a:p>
            <a:r>
              <a:rPr lang="en-US" b="1" dirty="0"/>
              <a:t>source 8 </a:t>
            </a:r>
            <a:r>
              <a:rPr lang="en-US" dirty="0"/>
              <a:t>Using DFT to calculate from the source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D98EAD-4025-4278-88B4-ACE36ACCB1F0}"/>
              </a:ext>
            </a:extLst>
          </p:cNvPr>
          <p:cNvSpPr txBox="1"/>
          <p:nvPr/>
        </p:nvSpPr>
        <p:spPr>
          <a:xfrm>
            <a:off x="4892040" y="4562946"/>
            <a:ext cx="37138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Physic loss: </a:t>
            </a:r>
            <a:r>
              <a:rPr lang="en-US" b="1" dirty="0"/>
              <a:t>source 9 </a:t>
            </a:r>
            <a:r>
              <a:rPr lang="en-US" dirty="0"/>
              <a:t>Sparse Learning, SL; good idea for LOSS FUNCTION!!!</a:t>
            </a:r>
          </a:p>
          <a:p>
            <a:r>
              <a:rPr lang="en-US" dirty="0"/>
              <a:t>A data-driven sparse learning approach to reduce chemical reaction mechanisms</a:t>
            </a:r>
          </a:p>
        </p:txBody>
      </p:sp>
    </p:spTree>
    <p:extLst>
      <p:ext uri="{BB962C8B-B14F-4D97-AF65-F5344CB8AC3E}">
        <p14:creationId xmlns:p14="http://schemas.microsoft.com/office/powerpoint/2010/main" val="2319334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3DCBB-FF91-816B-6760-9620775DC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FDE1244D-9E16-5CCB-42F5-19B5BA19F45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80121" y="168812"/>
            <a:ext cx="9037862" cy="44122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DBD936-C367-B493-2E02-F6F154EF5B9A}"/>
              </a:ext>
            </a:extLst>
          </p:cNvPr>
          <p:cNvSpPr txBox="1"/>
          <p:nvPr/>
        </p:nvSpPr>
        <p:spPr>
          <a:xfrm>
            <a:off x="1631852" y="4581085"/>
            <a:ext cx="54160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Constant Energy and constant entropy is a differential equation. Here we may apply </a:t>
            </a:r>
            <a:r>
              <a:rPr lang="en-US" dirty="0" err="1"/>
              <a:t>Simplied</a:t>
            </a:r>
            <a:r>
              <a:rPr lang="en-US" dirty="0"/>
              <a:t> </a:t>
            </a:r>
            <a:r>
              <a:rPr lang="en-US" b="1" dirty="0"/>
              <a:t>PINN in source 10:</a:t>
            </a:r>
          </a:p>
          <a:p>
            <a:r>
              <a:rPr lang="en-US" dirty="0"/>
              <a:t>Reduced-PINN: An Integration-Based Physics-Informed Neural Networks for Stiﬀ ODEs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417378-E733-E3D3-0604-3F8BAFABE33A}"/>
              </a:ext>
            </a:extLst>
          </p:cNvPr>
          <p:cNvSpPr txBox="1"/>
          <p:nvPr/>
        </p:nvSpPr>
        <p:spPr>
          <a:xfrm>
            <a:off x="6724357" y="1563767"/>
            <a:ext cx="52551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PINN?</a:t>
            </a:r>
          </a:p>
          <a:p>
            <a:r>
              <a:rPr lang="en-US" b="1" dirty="0"/>
              <a:t>Source 1: </a:t>
            </a:r>
            <a:r>
              <a:rPr lang="en-US" b="0" i="0" u="none" strike="noStrike" dirty="0">
                <a:solidFill>
                  <a:srgbClr val="1F1F1F"/>
                </a:solidFill>
                <a:effectLst/>
                <a:latin typeface="ElsevierGulliver"/>
              </a:rPr>
              <a:t>A hybrid chemical source treatment for non-premixed combustion simulations</a:t>
            </a:r>
          </a:p>
          <a:p>
            <a:r>
              <a:rPr lang="en-US" dirty="0">
                <a:solidFill>
                  <a:srgbClr val="1F1F1F"/>
                </a:solidFill>
                <a:latin typeface="ElsevierGulliver"/>
              </a:rPr>
              <a:t>Does PINN even work?</a:t>
            </a:r>
          </a:p>
          <a:p>
            <a:r>
              <a:rPr lang="en-US" b="1" i="0" u="none" strike="noStrike" dirty="0">
                <a:solidFill>
                  <a:srgbClr val="1F1F1F"/>
                </a:solidFill>
                <a:effectLst/>
                <a:latin typeface="ElsevierGulliver"/>
              </a:rPr>
              <a:t>Source 2: </a:t>
            </a:r>
            <a:r>
              <a:rPr lang="en-US" b="0" i="0" u="none" strike="noStrike" dirty="0">
                <a:solidFill>
                  <a:srgbClr val="1F1F1F"/>
                </a:solidFill>
                <a:effectLst/>
                <a:latin typeface="ElsevierGulliver"/>
              </a:rPr>
              <a:t>finding immeasurable states </a:t>
            </a:r>
          </a:p>
          <a:p>
            <a:r>
              <a:rPr lang="en-US" b="0" i="0" u="none" strike="noStrike" dirty="0">
                <a:solidFill>
                  <a:srgbClr val="1F1F1F"/>
                </a:solidFill>
                <a:effectLst/>
                <a:latin typeface="ElsevierGulliver"/>
              </a:rPr>
              <a:t>Physics-Informed Neural Networks (PINNs) in the dynamic process operation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668982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EA884-3D3F-7B9B-A87B-0812A377E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Species </a:t>
            </a:r>
            <a:r>
              <a:rPr lang="en-US" dirty="0" err="1"/>
              <a:t>cantera</a:t>
            </a:r>
            <a:endParaRPr lang="en-US" dirty="0"/>
          </a:p>
        </p:txBody>
      </p:sp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6458AB4-5189-84B9-774F-1623598AA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55209"/>
            <a:ext cx="7772400" cy="503766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F142A37-ED6A-9695-749C-368073071BC3}"/>
                  </a:ext>
                </a:extLst>
              </p14:cNvPr>
              <p14:cNvContentPartPr/>
              <p14:nvPr/>
            </p14:nvContentPartPr>
            <p14:xfrm>
              <a:off x="9254952" y="2688696"/>
              <a:ext cx="34524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F142A37-ED6A-9695-749C-368073071B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48832" y="2682576"/>
                <a:ext cx="3574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41D9B9D-E8FF-EA1E-2DF7-F6F89F6C3209}"/>
                  </a:ext>
                </a:extLst>
              </p14:cNvPr>
              <p14:cNvContentPartPr/>
              <p14:nvPr/>
            </p14:nvContentPartPr>
            <p14:xfrm>
              <a:off x="8399232" y="4631256"/>
              <a:ext cx="360" cy="1072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41D9B9D-E8FF-EA1E-2DF7-F6F89F6C32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93112" y="4625136"/>
                <a:ext cx="1260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817EAB2-5E42-1FC8-FC63-4867D3016D90}"/>
                  </a:ext>
                </a:extLst>
              </p14:cNvPr>
              <p14:cNvContentPartPr/>
              <p14:nvPr/>
            </p14:nvContentPartPr>
            <p14:xfrm>
              <a:off x="3391488" y="3240864"/>
              <a:ext cx="20880" cy="1461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817EAB2-5E42-1FC8-FC63-4867D3016D9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85368" y="3234744"/>
                <a:ext cx="3312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DA4E971-B46F-21A2-B7A6-6C2B158F235F}"/>
                  </a:ext>
                </a:extLst>
              </p14:cNvPr>
              <p14:cNvContentPartPr/>
              <p14:nvPr/>
            </p14:nvContentPartPr>
            <p14:xfrm>
              <a:off x="4772232" y="3854016"/>
              <a:ext cx="360" cy="102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DA4E971-B46F-21A2-B7A6-6C2B158F235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66112" y="3847896"/>
                <a:ext cx="1260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7BC8B28-59F3-2B98-BAD6-165B9FBD872A}"/>
                  </a:ext>
                </a:extLst>
              </p14:cNvPr>
              <p14:cNvContentPartPr/>
              <p14:nvPr/>
            </p14:nvContentPartPr>
            <p14:xfrm>
              <a:off x="5239872" y="3413016"/>
              <a:ext cx="360" cy="1152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7BC8B28-59F3-2B98-BAD6-165B9FBD872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33752" y="3406896"/>
                <a:ext cx="1260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A982500-43BA-E001-09FF-780CBC6917D5}"/>
                  </a:ext>
                </a:extLst>
              </p14:cNvPr>
              <p14:cNvContentPartPr/>
              <p14:nvPr/>
            </p14:nvContentPartPr>
            <p14:xfrm>
              <a:off x="5785632" y="3287376"/>
              <a:ext cx="360" cy="1954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A982500-43BA-E001-09FF-780CBC6917D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79512" y="3281256"/>
                <a:ext cx="1260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77543E9-19E0-BB19-DB03-A90F9C4DC4A7}"/>
                  </a:ext>
                </a:extLst>
              </p14:cNvPr>
              <p14:cNvContentPartPr/>
              <p14:nvPr/>
            </p14:nvContentPartPr>
            <p14:xfrm>
              <a:off x="6151392" y="3363336"/>
              <a:ext cx="360" cy="90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77543E9-19E0-BB19-DB03-A90F9C4DC4A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145272" y="3357216"/>
                <a:ext cx="1260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2327B8D-5FF3-DA28-6FA5-DE540183981D}"/>
                  </a:ext>
                </a:extLst>
              </p14:cNvPr>
              <p14:cNvContentPartPr/>
              <p14:nvPr/>
            </p14:nvContentPartPr>
            <p14:xfrm>
              <a:off x="6531192" y="3964896"/>
              <a:ext cx="360" cy="1324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2327B8D-5FF3-DA28-6FA5-DE540183981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25072" y="3958776"/>
                <a:ext cx="1260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DBDAA67-3377-5C66-AB29-E2194675BB44}"/>
                  </a:ext>
                </a:extLst>
              </p14:cNvPr>
              <p14:cNvContentPartPr/>
              <p14:nvPr/>
            </p14:nvContentPartPr>
            <p14:xfrm>
              <a:off x="7065072" y="4391496"/>
              <a:ext cx="2520" cy="2062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DBDAA67-3377-5C66-AB29-E2194675BB4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058952" y="4385376"/>
                <a:ext cx="147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EC7B10A-A439-6EB3-19A1-0A10DBA7D017}"/>
                  </a:ext>
                </a:extLst>
              </p14:cNvPr>
              <p14:cNvContentPartPr/>
              <p14:nvPr/>
            </p14:nvContentPartPr>
            <p14:xfrm>
              <a:off x="7574472" y="4644576"/>
              <a:ext cx="360" cy="644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EC7B10A-A439-6EB3-19A1-0A10DBA7D01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568352" y="4638456"/>
                <a:ext cx="1260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2A7EDC0-AF18-A7C4-B3F0-6AB4A04B105D}"/>
                  </a:ext>
                </a:extLst>
              </p14:cNvPr>
              <p14:cNvContentPartPr/>
              <p14:nvPr/>
            </p14:nvContentPartPr>
            <p14:xfrm>
              <a:off x="7973712" y="4616856"/>
              <a:ext cx="360" cy="148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2A7EDC0-AF18-A7C4-B3F0-6AB4A04B105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967592" y="4610736"/>
                <a:ext cx="1260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6E95B73-D56E-7397-B3A1-FC86AC4BA8E9}"/>
                  </a:ext>
                </a:extLst>
              </p14:cNvPr>
              <p14:cNvContentPartPr/>
              <p14:nvPr/>
            </p14:nvContentPartPr>
            <p14:xfrm>
              <a:off x="3329352" y="3423816"/>
              <a:ext cx="4411080" cy="19645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6E95B73-D56E-7397-B3A1-FC86AC4BA8E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323232" y="3417696"/>
                <a:ext cx="4423320" cy="197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340CD306-D229-844E-CF5C-A1D078298DDE}"/>
              </a:ext>
            </a:extLst>
          </p:cNvPr>
          <p:cNvGrpSpPr/>
          <p:nvPr/>
        </p:nvGrpSpPr>
        <p:grpSpPr>
          <a:xfrm>
            <a:off x="3404088" y="4276296"/>
            <a:ext cx="913824" cy="1001808"/>
            <a:chOff x="3404088" y="4276296"/>
            <a:chExt cx="913824" cy="100180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713F8F4-0D66-A5A8-AD5C-7C574DA70847}"/>
                    </a:ext>
                  </a:extLst>
                </p14:cNvPr>
                <p14:cNvContentPartPr/>
                <p14:nvPr/>
              </p14:nvContentPartPr>
              <p14:xfrm>
                <a:off x="3413808" y="5182704"/>
                <a:ext cx="4680" cy="95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713F8F4-0D66-A5A8-AD5C-7C574DA7084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407688" y="5176584"/>
                  <a:ext cx="169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FA709E3-BAED-DBE8-C4FE-5BBA85F2AD74}"/>
                    </a:ext>
                  </a:extLst>
                </p14:cNvPr>
                <p14:cNvContentPartPr/>
                <p14:nvPr/>
              </p14:nvContentPartPr>
              <p14:xfrm>
                <a:off x="3404088" y="4955904"/>
                <a:ext cx="16920" cy="88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FA709E3-BAED-DBE8-C4FE-5BBA85F2AD7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97968" y="4949784"/>
                  <a:ext cx="291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7F39386-2D0A-EFC3-935D-11CFD2F9BB19}"/>
                    </a:ext>
                  </a:extLst>
                </p14:cNvPr>
                <p14:cNvContentPartPr/>
                <p14:nvPr/>
              </p14:nvContentPartPr>
              <p14:xfrm>
                <a:off x="3406608" y="4292424"/>
                <a:ext cx="5040" cy="132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7F39386-2D0A-EFC3-935D-11CFD2F9BB1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00488" y="4286304"/>
                  <a:ext cx="17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38D06D1-98A9-65F9-2C7E-E92DD3CCEB39}"/>
                    </a:ext>
                  </a:extLst>
                </p14:cNvPr>
                <p14:cNvContentPartPr/>
                <p14:nvPr/>
              </p14:nvContentPartPr>
              <p14:xfrm>
                <a:off x="3934872" y="4658976"/>
                <a:ext cx="360" cy="144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38D06D1-98A9-65F9-2C7E-E92DD3CCEB3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928752" y="4652856"/>
                  <a:ext cx="126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3DEE791-3D34-C9E8-79AD-DD2F4F059135}"/>
                    </a:ext>
                  </a:extLst>
                </p14:cNvPr>
                <p14:cNvContentPartPr/>
                <p14:nvPr/>
              </p14:nvContentPartPr>
              <p14:xfrm>
                <a:off x="4317552" y="4276296"/>
                <a:ext cx="360" cy="129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3DEE791-3D34-C9E8-79AD-DD2F4F05913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11432" y="4270176"/>
                  <a:ext cx="126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488A304-EBE5-C63A-BBAC-8222930109D4}"/>
                    </a:ext>
                  </a:extLst>
                </p14:cNvPr>
                <p14:cNvContentPartPr/>
                <p14:nvPr/>
              </p14:nvContentPartPr>
              <p14:xfrm>
                <a:off x="3550032" y="5036976"/>
                <a:ext cx="360" cy="110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488A304-EBE5-C63A-BBAC-8222930109D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543912" y="5030856"/>
                  <a:ext cx="126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B24A19C-936C-8F4A-00DB-C026A281BD5C}"/>
                    </a:ext>
                  </a:extLst>
                </p14:cNvPr>
                <p14:cNvContentPartPr/>
                <p14:nvPr/>
              </p14:nvContentPartPr>
              <p14:xfrm>
                <a:off x="3727512" y="4815936"/>
                <a:ext cx="360" cy="120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B24A19C-936C-8F4A-00DB-C026A281BD5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21392" y="4809816"/>
                  <a:ext cx="126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13F7288-EC33-E603-21C5-78F5E829CC3A}"/>
                    </a:ext>
                  </a:extLst>
                </p14:cNvPr>
                <p14:cNvContentPartPr/>
                <p14:nvPr/>
              </p14:nvContentPartPr>
              <p14:xfrm>
                <a:off x="4051152" y="4535136"/>
                <a:ext cx="360" cy="69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13F7288-EC33-E603-21C5-78F5E829CC3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45032" y="4529016"/>
                  <a:ext cx="126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ECC856-86E2-DE4A-5CB5-F296259775A2}"/>
                    </a:ext>
                  </a:extLst>
                </p14:cNvPr>
                <p14:cNvContentPartPr/>
                <p14:nvPr/>
              </p14:nvContentPartPr>
              <p14:xfrm>
                <a:off x="4215312" y="4406616"/>
                <a:ext cx="360" cy="25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ECC856-86E2-DE4A-5CB5-F296259775A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09192" y="4400496"/>
                  <a:ext cx="12600" cy="38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44486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B6693-DF33-1D25-F4A1-F01823437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 evolution</a:t>
            </a:r>
          </a:p>
        </p:txBody>
      </p:sp>
      <p:pic>
        <p:nvPicPr>
          <p:cNvPr id="5" name="Picture 4" descr="A graph with a red line&#10;&#10;AI-generated content may be incorrect.">
            <a:extLst>
              <a:ext uri="{FF2B5EF4-FFF2-40B4-BE49-F238E27FC236}">
                <a16:creationId xmlns:a16="http://schemas.microsoft.com/office/drawing/2014/main" id="{591CD087-1045-9BCD-81FE-72DA86D320F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209800" y="1690688"/>
            <a:ext cx="7772400" cy="3886200"/>
          </a:xfrm>
          <a:prstGeom prst="rect">
            <a:avLst/>
          </a:prstGeom>
        </p:spPr>
      </p:pic>
      <p:pic>
        <p:nvPicPr>
          <p:cNvPr id="4" name="Picture 3" descr="A graph on a screen&#10;&#10;AI-generated content may be incorrect.">
            <a:extLst>
              <a:ext uri="{FF2B5EF4-FFF2-40B4-BE49-F238E27FC236}">
                <a16:creationId xmlns:a16="http://schemas.microsoft.com/office/drawing/2014/main" id="{3E12B19C-F79B-0E32-CC4B-DDF847C0F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23395"/>
            <a:ext cx="7772400" cy="462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96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9638D-499E-E942-8AEB-87A732B2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PINN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4EEC6-4484-C1BF-FF42-A86165292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Input: </a:t>
            </a:r>
            <a:r>
              <a:rPr lang="en-US" dirty="0"/>
              <a:t>[</a:t>
            </a:r>
            <a:r>
              <a:rPr lang="en-US" dirty="0" err="1"/>
              <a:t>X_species</a:t>
            </a:r>
            <a:r>
              <a:rPr lang="en-US" dirty="0"/>
              <a:t> (9), rho, T, dt]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→ 12 features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Output: </a:t>
            </a:r>
            <a:r>
              <a:rPr lang="en-US" dirty="0"/>
              <a:t>[</a:t>
            </a:r>
            <a:r>
              <a:rPr lang="en-US" dirty="0" err="1"/>
              <a:t>X_species</a:t>
            </a:r>
            <a:r>
              <a:rPr lang="en-US" dirty="0"/>
              <a:t> (9), rho, T]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→ 11 features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Species: CO2, O2, N2, CO, NO, C, O, N, AR</a:t>
            </a:r>
            <a:endParaRPr lang="en-US" dirty="0">
              <a:latin typeface="-webkit-standard"/>
            </a:endParaRP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Governing Equations (Physics Constraints):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Atom Conservation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(C, O, N,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Ar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atoms)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Energy Conservation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(constant internal energy at constant volume)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Volume Conservation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(constant volume → constant density for ideal gas)</a:t>
            </a:r>
            <a:endParaRPr lang="en-US" dirty="0"/>
          </a:p>
          <a:p>
            <a:r>
              <a:rPr lang="en-US" dirty="0"/>
              <a:t>Loss function (with data constraint):</a:t>
            </a:r>
          </a:p>
          <a:p>
            <a:r>
              <a:rPr lang="en-US" dirty="0"/>
              <a:t>Activation operator: (</a:t>
            </a:r>
            <a:r>
              <a:rPr lang="en-US" dirty="0" err="1"/>
              <a:t>adam</a:t>
            </a:r>
            <a:r>
              <a:rPr lang="en-US" dirty="0"/>
              <a:t>?)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476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25852-DADE-ADE0-E50A-673B6007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</a:t>
            </a:r>
          </a:p>
        </p:txBody>
      </p:sp>
      <p:pic>
        <p:nvPicPr>
          <p:cNvPr id="5" name="Content Placeholder 4" descr="A text on a page&#10;&#10;AI-generated content may be incorrect.">
            <a:extLst>
              <a:ext uri="{FF2B5EF4-FFF2-40B4-BE49-F238E27FC236}">
                <a16:creationId xmlns:a16="http://schemas.microsoft.com/office/drawing/2014/main" id="{1199B7D0-047B-098D-F7A3-8CB66EA809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tretch>
            <a:fillRect/>
          </a:stretch>
        </p:blipFill>
        <p:spPr>
          <a:xfrm>
            <a:off x="1263237" y="1825625"/>
            <a:ext cx="9665525" cy="4351338"/>
          </a:xfrm>
        </p:spPr>
      </p:pic>
    </p:spTree>
    <p:extLst>
      <p:ext uri="{BB962C8B-B14F-4D97-AF65-F5344CB8AC3E}">
        <p14:creationId xmlns:p14="http://schemas.microsoft.com/office/powerpoint/2010/main" val="580652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8E31A-C5CE-F5A3-000A-B630AE99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6EB551-A0C5-C72E-9F54-0A6982B28D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tretch>
            <a:fillRect/>
          </a:stretch>
        </p:blipFill>
        <p:spPr>
          <a:xfrm>
            <a:off x="3185308" y="1825625"/>
            <a:ext cx="5821384" cy="4351338"/>
          </a:xfrm>
        </p:spPr>
      </p:pic>
    </p:spTree>
    <p:extLst>
      <p:ext uri="{BB962C8B-B14F-4D97-AF65-F5344CB8AC3E}">
        <p14:creationId xmlns:p14="http://schemas.microsoft.com/office/powerpoint/2010/main" val="2608715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4B8A0-20E2-2833-0C05-3EBF0CE6C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Governing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7F58A5-DD54-9962-456C-3AB8DA6C2F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acc>
                  </m:oMath>
                </a14:m>
                <a:r>
                  <a:rPr lang="en-US" dirty="0"/>
                  <a:t> is the chemical reaction rate</a:t>
                </a:r>
              </a:p>
              <a:p>
                <a:r>
                  <a:rPr lang="en-US" dirty="0"/>
                  <a:t>Rho is density of species</a:t>
                </a:r>
              </a:p>
              <a:p>
                <a:r>
                  <a:rPr lang="en-US" dirty="0"/>
                  <a:t>Reaction PINN: </a:t>
                </a:r>
              </a:p>
              <a:p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Output: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7F58A5-DD54-9962-456C-3AB8DA6C2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DEAA420-959A-0B16-41A9-5BB8CB9540F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46900" y="1825625"/>
            <a:ext cx="440690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893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C1349-48B5-5779-6F48-3A9B93F06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Chemical reaction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E6B36-CC96-3644-BBF3-FC54C2A1E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A+B -k-&gt; 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NN(t,\theta) = [A(t),B(t),C(t)]; theta is the weight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K be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Trainable Parameter; can be optimized 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like weight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19CB8EA8-7FE1-7898-A8C7-7577404A67F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38200" y="2419350"/>
            <a:ext cx="24257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567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3EF82-9C53-9423-4C68-790B7B920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Chemical reaction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87E8D-28D0-E826-ABE7-B330588E4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in </a:t>
            </a:r>
            <a:r>
              <a:rPr lang="en-US" dirty="0" err="1"/>
              <a:t>yaml</a:t>
            </a:r>
            <a:r>
              <a:rPr lang="en-US" dirty="0"/>
              <a:t> file: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EBE920-257A-9D29-62D7-28E9F2095D83}"/>
              </a:ext>
            </a:extLst>
          </p:cNvPr>
          <p:cNvSpPr txBox="1"/>
          <p:nvPr/>
        </p:nvSpPr>
        <p:spPr>
          <a:xfrm>
            <a:off x="1138843" y="2419680"/>
            <a:ext cx="6043353" cy="1719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equation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A3069"/>
                </a:solidFill>
                <a:effectLst/>
                <a:latin typeface="Menlo" panose="020B0609030804020204" pitchFamily="49" charset="0"/>
              </a:rPr>
              <a:t>CO2 + M &lt;=&gt; CO + O + M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6E7781"/>
                </a:solidFill>
                <a:effectLst/>
                <a:latin typeface="Menlo" panose="020B0609030804020204" pitchFamily="49" charset="0"/>
              </a:rPr>
              <a:t># Reaction 1</a:t>
            </a:r>
            <a:endParaRPr lang="en-US" b="0" dirty="0">
              <a:solidFill>
                <a:srgbClr val="1F2328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A3069"/>
                </a:solidFill>
                <a:effectLst/>
                <a:latin typeface="Menlo" panose="020B0609030804020204" pitchFamily="49" charset="0"/>
              </a:rPr>
              <a:t>three-body</a:t>
            </a:r>
            <a:endParaRPr lang="en-US" b="0" dirty="0">
              <a:solidFill>
                <a:srgbClr val="1F2328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rate-constant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{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6.9e+20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-1.5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 err="1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Ea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1.2575e+05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efficiencies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{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CO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10.0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20.0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20.0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NO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10.0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O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20.0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C2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10.0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N2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10.0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CN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10.0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CO2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10.0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AR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1.0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116329"/>
                </a:solidFill>
                <a:effectLst/>
                <a:latin typeface="Menlo" panose="020B0609030804020204" pitchFamily="49" charset="0"/>
              </a:rPr>
              <a:t>O2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0550AE"/>
                </a:solidFill>
                <a:effectLst/>
                <a:latin typeface="Menlo" panose="020B0609030804020204" pitchFamily="49" charset="0"/>
              </a:rPr>
              <a:t>10.0</a:t>
            </a:r>
            <a:r>
              <a:rPr lang="en-US" b="0" dirty="0">
                <a:solidFill>
                  <a:srgbClr val="1F2328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pic>
        <p:nvPicPr>
          <p:cNvPr id="7" name="Picture 6" descr="A math equation with a number and a circle&#10;&#10;AI-generated content may be incorrect.">
            <a:extLst>
              <a:ext uri="{FF2B5EF4-FFF2-40B4-BE49-F238E27FC236}">
                <a16:creationId xmlns:a16="http://schemas.microsoft.com/office/drawing/2014/main" id="{7F0C68D2-511C-D8DD-1A11-D9D40AF52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8" y="4510694"/>
            <a:ext cx="4895953" cy="16662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DEBD6D-5524-69AB-FA74-21B2F91F882C}"/>
              </a:ext>
            </a:extLst>
          </p:cNvPr>
          <p:cNvSpPr txBox="1"/>
          <p:nvPr/>
        </p:nvSpPr>
        <p:spPr>
          <a:xfrm>
            <a:off x="5843847" y="4604014"/>
            <a:ext cx="6101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units: {length: cm, quantity: mol, activation-energy: </a:t>
            </a:r>
            <a:r>
              <a:rPr lang="en-US" dirty="0" err="1"/>
              <a:t>cal</a:t>
            </a:r>
            <a:r>
              <a:rPr lang="en-US" dirty="0"/>
              <a:t>/mol}</a:t>
            </a:r>
          </a:p>
        </p:txBody>
      </p:sp>
      <p:pic>
        <p:nvPicPr>
          <p:cNvPr id="11" name="Picture 10" descr="A math equations with numbers&#10;&#10;AI-generated content may be incorrect.">
            <a:extLst>
              <a:ext uri="{FF2B5EF4-FFF2-40B4-BE49-F238E27FC236}">
                <a16:creationId xmlns:a16="http://schemas.microsoft.com/office/drawing/2014/main" id="{151F8ED8-BF10-E1C1-5CE1-B86121B52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825" y="5173056"/>
            <a:ext cx="18669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208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6D702-2613-38CD-7ACC-BD5AC5D19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B7C723-29A4-DEA0-B2D8-F578A292AB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tretch>
            <a:fillRect/>
          </a:stretch>
        </p:blipFill>
        <p:spPr>
          <a:xfrm>
            <a:off x="838200" y="1690688"/>
            <a:ext cx="2857500" cy="736600"/>
          </a:xfr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AD0B6C6C-CE4E-6A2C-FF5D-8920D9D6C64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38200" y="2427288"/>
            <a:ext cx="4787900" cy="1104900"/>
          </a:xfrm>
          <a:prstGeom prst="rect">
            <a:avLst/>
          </a:prstGeom>
        </p:spPr>
      </p:pic>
      <p:pic>
        <p:nvPicPr>
          <p:cNvPr id="9" name="Picture 8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76906217-F5E2-F2A7-BBE7-544ABBAFA3A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38200" y="3532188"/>
            <a:ext cx="5346700" cy="11303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CACD79-0272-461B-7F27-D8A9FF4402D4}"/>
              </a:ext>
            </a:extLst>
          </p:cNvPr>
          <p:cNvSpPr txBox="1"/>
          <p:nvPr/>
        </p:nvSpPr>
        <p:spPr>
          <a:xfrm>
            <a:off x="838200" y="5398056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=T6nHF3Pi9TM</a:t>
            </a:r>
          </a:p>
        </p:txBody>
      </p:sp>
    </p:spTree>
    <p:extLst>
      <p:ext uri="{BB962C8B-B14F-4D97-AF65-F5344CB8AC3E}">
        <p14:creationId xmlns:p14="http://schemas.microsoft.com/office/powerpoint/2010/main" val="2825688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23375</TotalTime>
  <Words>521</Words>
  <Application>Microsoft Macintosh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-webkit-standard</vt:lpstr>
      <vt:lpstr>ElsevierGulliver</vt:lpstr>
      <vt:lpstr>Aptos</vt:lpstr>
      <vt:lpstr>Aptos Display</vt:lpstr>
      <vt:lpstr>Arial</vt:lpstr>
      <vt:lpstr>Cambria Math</vt:lpstr>
      <vt:lpstr>Menlo</vt:lpstr>
      <vt:lpstr>Office Theme</vt:lpstr>
      <vt:lpstr>Surf </vt:lpstr>
      <vt:lpstr>PowerPoint Presentation</vt:lpstr>
      <vt:lpstr>PowerPoint Presentation</vt:lpstr>
      <vt:lpstr>Species cantera</vt:lpstr>
      <vt:lpstr>Temperature evolution</vt:lpstr>
      <vt:lpstr>PINN structure</vt:lpstr>
      <vt:lpstr>Loss function</vt:lpstr>
      <vt:lpstr>Loss function</vt:lpstr>
      <vt:lpstr>Governing equation</vt:lpstr>
      <vt:lpstr>Chemical reaction rate</vt:lpstr>
      <vt:lpstr>Chemical reaction rate</vt:lpstr>
      <vt:lpstr>Loss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Xiaoxi Zhou</dc:creator>
  <cp:lastModifiedBy>Xiaoxi Zhou</cp:lastModifiedBy>
  <cp:revision>4</cp:revision>
  <dcterms:created xsi:type="dcterms:W3CDTF">2025-11-29T08:07:18Z</dcterms:created>
  <dcterms:modified xsi:type="dcterms:W3CDTF">2026-01-21T23:16:27Z</dcterms:modified>
</cp:coreProperties>
</file>