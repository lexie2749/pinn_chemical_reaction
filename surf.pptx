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5" r:id="rId8"/>
    <p:sldId id="266" r:id="rId9"/>
    <p:sldId id="261" r:id="rId10"/>
    <p:sldId id="262" r:id="rId11"/>
    <p:sldId id="267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9762"/>
    <p:restoredTop sz="96047"/>
  </p:normalViewPr>
  <p:slideViewPr>
    <p:cSldViewPr snapToGrid="0">
      <p:cViewPr varScale="1">
        <p:scale>
          <a:sx n="72" d="100"/>
          <a:sy n="72" d="100"/>
        </p:scale>
        <p:origin x="21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6D6BA-0989-CBED-582C-CC37AA7F9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1302A-8FCF-948C-D79A-EDE17A386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3674A-5AC5-3A22-7984-9ED0BB58F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90B35-F24C-605E-2FC3-6A4B34B0E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57D6A-1973-2F79-C817-DD7A07E32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51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3CA32-24F8-B83D-93C4-E6A9DB76F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E66A8-D480-F54B-DA8F-4BCF7E36A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D866D-F934-7A7D-43FD-4EA02EF7A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285A9-7B6D-A87A-045B-E5863B3D5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62833-7F19-DEEE-9705-76DB95B55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45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83925-E5D2-6CEC-A700-52205A6C1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D081F-700A-A816-B853-170666EB8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3044-57EE-C7BF-8C96-EA9B33628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15F03-334C-E58D-F9B1-DF3F129DE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66147-0978-B822-5C31-79947C508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006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9C8DC-A66D-99A5-38EE-E6618AA3A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1C505-160B-5B16-ECDD-069AD04E6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B6377-B369-1A48-6083-5C31F1315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558D8-54DC-F31F-7D79-ABBD3CF1A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50205-B499-744E-D8F8-404257F1A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C3133-99A9-79B1-F2B7-3B232BBC9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82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C93D5-3CA0-F88E-DA29-F490F7E80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1D551-FE75-B5BF-44FF-10A8C3A8F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3982A-B373-4524-85B5-A6EDD8125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2BE751-C4B4-0757-AB3B-F3E087E79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EDC35-D633-F624-207E-96895769F3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810CA1-9929-107D-00DA-2EE66084B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EA6C44-38DD-FF7B-12BC-3CB739EB0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3F7D9D-73DD-0CCB-F3CC-3FB0A8227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96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5FCB1-5FD6-7799-8164-DE5E4FDAA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CE007-C120-079C-A54C-23B92FFAC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2EAB0B-60D0-C3D4-CB18-B91CA7EE0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72DD33-1408-4FBB-E88C-0D495F62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73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97C70B-7088-8326-4B4C-FE0BB37D9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E1C88F-1AD0-20AA-5EFB-9D9E54D71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BEB9E-E95D-90DC-B566-91D021DD2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25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73BEB-C806-475B-D00C-DEA5E6DB3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54630-B31C-E0DC-EC42-CBED47882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987687-5539-99A0-7E99-ADF19F729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97D77-E055-1AFD-7E23-26E6852B5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C9C86-2D84-049E-C83B-C399A59DA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04F0A-B83B-0D17-2DC6-E26F9DEBA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21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A9A29-B738-F5D9-A394-757A4DEB2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817E8C-AFC8-8375-E047-3079980CEA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20096-FE84-1974-7CA7-75E641DC6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590C0-0735-4F29-7048-191EEEBB8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E4E8B-CC24-5482-A86B-18603AD9C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98461-EC23-B218-400C-F0C4D34D3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7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C56B6-372B-75EC-24E2-A64295207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6E022-8B29-6D24-6335-DE59B823C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562EA-9BED-9588-104A-117C51581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6B797-6A2D-2525-9C81-D9974F29A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5D5E0-5598-B4CA-496A-572B0B230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90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752131-0C8D-62C9-5C24-A1403BDB2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3A668-382B-B5B2-D54C-45616D14C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B2ABC-E0C3-8B53-1ECC-7168C4057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F8F25-63D0-22D1-9D91-DCCF0602F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0BCB0-2EBD-9724-2113-EA82005AD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10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8E98B1-F0C4-2618-9E0F-7E2BE4CA8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B6F0E-9525-C75B-B480-8F050221C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69D0A-A843-4EAD-31AF-4A9EB8E8AD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BD873C-DCF3-A041-AECD-539E78E16BCC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AF671-53EE-3EEA-36C8-1C54B5842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2405D-044F-7EBE-A9B5-4E27014DB4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39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33BA3-6D42-2E50-CA47-2CECA8A5C6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Surf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FEB20A-A0BC-ABD2-460A-C8EB8E1EA7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Lexie </a:t>
            </a:r>
          </a:p>
          <a:p>
            <a:r>
              <a:rPr lang="en-US" dirty="0"/>
              <a:t>10.30</a:t>
            </a:r>
          </a:p>
        </p:txBody>
      </p:sp>
    </p:spTree>
    <p:extLst>
      <p:ext uri="{BB962C8B-B14F-4D97-AF65-F5344CB8AC3E}">
        <p14:creationId xmlns:p14="http://schemas.microsoft.com/office/powerpoint/2010/main" val="4075820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drawing of a diagram&#10;&#10;AI-generated content may be incorrect.">
            <a:extLst>
              <a:ext uri="{FF2B5EF4-FFF2-40B4-BE49-F238E27FC236}">
                <a16:creationId xmlns:a16="http://schemas.microsoft.com/office/drawing/2014/main" id="{F5CE9D98-7F20-218E-054C-0C651E738A8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070009" y="222377"/>
            <a:ext cx="4586553" cy="42906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3222B5-F9FE-3BE7-36A6-40A65D93F53D}"/>
              </a:ext>
            </a:extLst>
          </p:cNvPr>
          <p:cNvSpPr txBox="1"/>
          <p:nvPr/>
        </p:nvSpPr>
        <p:spPr>
          <a:xfrm>
            <a:off x="356138" y="407963"/>
            <a:ext cx="371387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Activation operator: a function to add </a:t>
            </a:r>
            <a:r>
              <a:rPr lang="en-US" dirty="0" err="1"/>
              <a:t>nonlinearlity</a:t>
            </a:r>
            <a:r>
              <a:rPr lang="en-US" dirty="0"/>
              <a:t> to weight</a:t>
            </a:r>
          </a:p>
          <a:p>
            <a:r>
              <a:rPr lang="en-US" dirty="0"/>
              <a:t>Before: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After: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Source</a:t>
            </a:r>
            <a:r>
              <a:rPr lang="zh-CN" altLang="en-US" b="1" dirty="0"/>
              <a:t> </a:t>
            </a:r>
            <a:r>
              <a:rPr lang="en-US" altLang="zh-CN" b="1" dirty="0"/>
              <a:t>7</a:t>
            </a:r>
            <a:r>
              <a:rPr lang="zh-CN" altLang="en-US" b="1" dirty="0"/>
              <a:t> </a:t>
            </a:r>
            <a:r>
              <a:rPr lang="en-US" altLang="zh-CN" dirty="0" err="1"/>
              <a:t>ChemNODE</a:t>
            </a:r>
            <a:r>
              <a:rPr lang="en-US" altLang="zh-CN" dirty="0"/>
              <a:t> new machine learning method for chemical reaction and providing new choice of optimizer.</a:t>
            </a:r>
            <a:r>
              <a:rPr lang="zh-CN" altLang="en-US" dirty="0"/>
              <a:t> </a:t>
            </a:r>
            <a:r>
              <a:rPr lang="en-US" altLang="zh-CN" dirty="0"/>
              <a:t>(Paper: </a:t>
            </a:r>
            <a:r>
              <a:rPr lang="en-US" altLang="zh-CN" dirty="0" err="1"/>
              <a:t>ChemNODE</a:t>
            </a:r>
            <a:r>
              <a:rPr lang="en-US" altLang="zh-CN" dirty="0"/>
              <a:t>: A Neural Ordinary Differential Equations Framework for Efficient Chemical Kinetic Solvers)</a:t>
            </a:r>
            <a:r>
              <a:rPr lang="en-US" dirty="0"/>
              <a:t> </a:t>
            </a:r>
          </a:p>
        </p:txBody>
      </p:sp>
      <p:pic>
        <p:nvPicPr>
          <p:cNvPr id="8" name="Picture 7" descr="A black and white symbol&#10;&#10;AI-generated content may be incorrect.">
            <a:extLst>
              <a:ext uri="{FF2B5EF4-FFF2-40B4-BE49-F238E27FC236}">
                <a16:creationId xmlns:a16="http://schemas.microsoft.com/office/drawing/2014/main" id="{7F4DBC3C-537C-282A-3718-662D64E50E6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40204" y="1275832"/>
            <a:ext cx="2501900" cy="838200"/>
          </a:xfrm>
          <a:prstGeom prst="rect">
            <a:avLst/>
          </a:prstGeom>
        </p:spPr>
      </p:pic>
      <p:pic>
        <p:nvPicPr>
          <p:cNvPr id="12" name="Picture 11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DE621529-7515-8832-AB07-5F7CB5A7832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16454" y="2330279"/>
            <a:ext cx="1549400" cy="5969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067C67-C8B5-88E8-61A3-5B8C680CF2A2}"/>
              </a:ext>
            </a:extLst>
          </p:cNvPr>
          <p:cNvSpPr txBox="1"/>
          <p:nvPr/>
        </p:nvSpPr>
        <p:spPr>
          <a:xfrm>
            <a:off x="8657493" y="546462"/>
            <a:ext cx="353450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Data loss</a:t>
            </a:r>
          </a:p>
          <a:p>
            <a:r>
              <a:rPr lang="en-US" b="1" dirty="0"/>
              <a:t>source 3 </a:t>
            </a:r>
            <a:r>
              <a:rPr lang="en-US" dirty="0"/>
              <a:t>modeling turbulent combustion with data </a:t>
            </a:r>
            <a:r>
              <a:rPr lang="en-US" dirty="0" err="1"/>
              <a:t>constriants</a:t>
            </a:r>
            <a:r>
              <a:rPr lang="en-US" dirty="0"/>
              <a:t> (Physics-informed neural networks for modeling turbulent combustion)</a:t>
            </a:r>
          </a:p>
          <a:p>
            <a:endParaRPr lang="en-US" dirty="0"/>
          </a:p>
          <a:p>
            <a:r>
              <a:rPr lang="en-US" dirty="0"/>
              <a:t>Acquiring actual data from </a:t>
            </a:r>
            <a:r>
              <a:rPr lang="en-US" dirty="0" err="1"/>
              <a:t>cantera</a:t>
            </a:r>
            <a:endParaRPr lang="en-US" dirty="0"/>
          </a:p>
          <a:p>
            <a:endParaRPr lang="en-US" dirty="0"/>
          </a:p>
          <a:p>
            <a:r>
              <a:rPr lang="en-US" dirty="0"/>
              <a:t>Or calculate from source:</a:t>
            </a:r>
          </a:p>
          <a:p>
            <a:r>
              <a:rPr lang="en-US" b="1" dirty="0"/>
              <a:t>source 4 </a:t>
            </a:r>
            <a:r>
              <a:rPr lang="en-US" dirty="0"/>
              <a:t>calculating chemical combustion kinetics</a:t>
            </a:r>
          </a:p>
          <a:p>
            <a:r>
              <a:rPr lang="en-US" b="1" dirty="0"/>
              <a:t>source 5 </a:t>
            </a:r>
            <a:r>
              <a:rPr lang="en-US" dirty="0"/>
              <a:t>precomputation chemical reaction using kinetic monte </a:t>
            </a:r>
            <a:r>
              <a:rPr lang="en-US" dirty="0" err="1"/>
              <a:t>carlo</a:t>
            </a:r>
            <a:endParaRPr lang="en-US" dirty="0"/>
          </a:p>
          <a:p>
            <a:r>
              <a:rPr lang="en-US" b="1" dirty="0"/>
              <a:t>source 6 </a:t>
            </a:r>
            <a:r>
              <a:rPr lang="en-US" dirty="0"/>
              <a:t>kinetic monte </a:t>
            </a:r>
            <a:r>
              <a:rPr lang="en-US" dirty="0" err="1"/>
              <a:t>carlo</a:t>
            </a:r>
            <a:endParaRPr lang="en-US" dirty="0"/>
          </a:p>
          <a:p>
            <a:r>
              <a:rPr lang="en-US" b="1" dirty="0"/>
              <a:t>source 8 </a:t>
            </a:r>
            <a:r>
              <a:rPr lang="en-US" dirty="0"/>
              <a:t>Using DFT to calculate from the source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D98EAD-4025-4278-88B4-ACE36ACCB1F0}"/>
              </a:ext>
            </a:extLst>
          </p:cNvPr>
          <p:cNvSpPr txBox="1"/>
          <p:nvPr/>
        </p:nvSpPr>
        <p:spPr>
          <a:xfrm>
            <a:off x="4892040" y="4562946"/>
            <a:ext cx="37138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Physic loss: </a:t>
            </a:r>
            <a:r>
              <a:rPr lang="en-US" b="1" dirty="0"/>
              <a:t>source 9 </a:t>
            </a:r>
            <a:r>
              <a:rPr lang="en-US" dirty="0"/>
              <a:t>Sparse Learning, SL; good idea for LOSS FUNCTION!!!</a:t>
            </a:r>
          </a:p>
          <a:p>
            <a:r>
              <a:rPr lang="en-US" dirty="0"/>
              <a:t>A data-driven sparse learning approach to reduce chemical reaction mechanisms</a:t>
            </a:r>
          </a:p>
        </p:txBody>
      </p:sp>
    </p:spTree>
    <p:extLst>
      <p:ext uri="{BB962C8B-B14F-4D97-AF65-F5344CB8AC3E}">
        <p14:creationId xmlns:p14="http://schemas.microsoft.com/office/powerpoint/2010/main" val="2319334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3DCBB-FF91-816B-6760-9620775DC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FDE1244D-9E16-5CCB-42F5-19B5BA19F45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80121" y="168812"/>
            <a:ext cx="9037862" cy="44122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DBD936-C367-B493-2E02-F6F154EF5B9A}"/>
              </a:ext>
            </a:extLst>
          </p:cNvPr>
          <p:cNvSpPr txBox="1"/>
          <p:nvPr/>
        </p:nvSpPr>
        <p:spPr>
          <a:xfrm>
            <a:off x="1631852" y="4581085"/>
            <a:ext cx="54160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Constant Energy and constant entropy is a differential equation. Here we may apply </a:t>
            </a:r>
            <a:r>
              <a:rPr lang="en-US" dirty="0" err="1"/>
              <a:t>Simplied</a:t>
            </a:r>
            <a:r>
              <a:rPr lang="en-US" dirty="0"/>
              <a:t> </a:t>
            </a:r>
            <a:r>
              <a:rPr lang="en-US" b="1" dirty="0"/>
              <a:t>PINN in source 10:</a:t>
            </a:r>
          </a:p>
          <a:p>
            <a:r>
              <a:rPr lang="en-US" dirty="0"/>
              <a:t>Reduced-PINN: An Integration-Based Physics-Informed Neural Networks for Stiﬀ ODEs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417378-E733-E3D3-0604-3F8BAFABE33A}"/>
              </a:ext>
            </a:extLst>
          </p:cNvPr>
          <p:cNvSpPr txBox="1"/>
          <p:nvPr/>
        </p:nvSpPr>
        <p:spPr>
          <a:xfrm>
            <a:off x="6724357" y="1563767"/>
            <a:ext cx="52551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PINN?</a:t>
            </a:r>
          </a:p>
          <a:p>
            <a:r>
              <a:rPr lang="en-US" b="1" dirty="0"/>
              <a:t>Source 1: </a:t>
            </a:r>
            <a:r>
              <a:rPr lang="en-US" b="0" i="0" u="none" strike="noStrike" dirty="0">
                <a:solidFill>
                  <a:srgbClr val="1F1F1F"/>
                </a:solidFill>
                <a:effectLst/>
                <a:latin typeface="ElsevierGulliver"/>
              </a:rPr>
              <a:t>A hybrid chemical source treatment for non-premixed combustion simulations</a:t>
            </a:r>
          </a:p>
          <a:p>
            <a:r>
              <a:rPr lang="en-US" dirty="0">
                <a:solidFill>
                  <a:srgbClr val="1F1F1F"/>
                </a:solidFill>
                <a:latin typeface="ElsevierGulliver"/>
              </a:rPr>
              <a:t>Does PINN even work?</a:t>
            </a:r>
          </a:p>
          <a:p>
            <a:r>
              <a:rPr lang="en-US" b="1" i="0" u="none" strike="noStrike" dirty="0">
                <a:solidFill>
                  <a:srgbClr val="1F1F1F"/>
                </a:solidFill>
                <a:effectLst/>
                <a:latin typeface="ElsevierGulliver"/>
              </a:rPr>
              <a:t>Source 2: </a:t>
            </a:r>
            <a:r>
              <a:rPr lang="en-US" b="0" i="0" u="none" strike="noStrike" dirty="0">
                <a:solidFill>
                  <a:srgbClr val="1F1F1F"/>
                </a:solidFill>
                <a:effectLst/>
                <a:latin typeface="ElsevierGulliver"/>
              </a:rPr>
              <a:t>finding immeasurable states </a:t>
            </a:r>
          </a:p>
          <a:p>
            <a:r>
              <a:rPr lang="en-US" b="0" i="0" u="none" strike="noStrike" dirty="0">
                <a:solidFill>
                  <a:srgbClr val="1F1F1F"/>
                </a:solidFill>
                <a:effectLst/>
                <a:latin typeface="ElsevierGulliver"/>
              </a:rPr>
              <a:t>Physics-Informed Neural Networks (PINNs) in the dynamic process operation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668982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EA884-3D3F-7B9B-A87B-0812A377E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Species </a:t>
            </a:r>
            <a:r>
              <a:rPr lang="en-US" dirty="0" err="1"/>
              <a:t>cantera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E09A6D-9D93-9302-BA61-914AADFABAB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209800" y="1690688"/>
            <a:ext cx="7772400" cy="444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486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B6693-DF33-1D25-F4A1-F01823437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 evolution</a:t>
            </a:r>
          </a:p>
        </p:txBody>
      </p:sp>
      <p:pic>
        <p:nvPicPr>
          <p:cNvPr id="5" name="Picture 4" descr="A graph with a red line&#10;&#10;AI-generated content may be incorrect.">
            <a:extLst>
              <a:ext uri="{FF2B5EF4-FFF2-40B4-BE49-F238E27FC236}">
                <a16:creationId xmlns:a16="http://schemas.microsoft.com/office/drawing/2014/main" id="{591CD087-1045-9BCD-81FE-72DA86D320F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209800" y="1690688"/>
            <a:ext cx="77724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96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9638D-499E-E942-8AEB-87A732B2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PINN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4EEC6-4484-C1BF-FF42-A86165292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Input: </a:t>
            </a:r>
            <a:r>
              <a:rPr lang="en-US" dirty="0"/>
              <a:t>[</a:t>
            </a:r>
            <a:r>
              <a:rPr lang="en-US" dirty="0" err="1"/>
              <a:t>X_species</a:t>
            </a:r>
            <a:r>
              <a:rPr lang="en-US" dirty="0"/>
              <a:t> (9), rho, T, dt]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→ 12 features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Output: </a:t>
            </a:r>
            <a:r>
              <a:rPr lang="en-US" dirty="0"/>
              <a:t>[</a:t>
            </a:r>
            <a:r>
              <a:rPr lang="en-US" dirty="0" err="1"/>
              <a:t>X_species</a:t>
            </a:r>
            <a:r>
              <a:rPr lang="en-US" dirty="0"/>
              <a:t> (9), rho, T]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→ 11 features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Species: CO2, O2, N2, CO, NO, C, O, N, AR</a:t>
            </a:r>
            <a:endParaRPr lang="en-US" dirty="0">
              <a:latin typeface="-webkit-standard"/>
            </a:endParaRP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Governing Equations (Physics Constraints):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Atom Conservation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(C, O, N,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Ar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atoms)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Energy Conservation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(constant internal energy at constant volume)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Volume Conservation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(constant volume → constant density for ideal gas)</a:t>
            </a:r>
            <a:endParaRPr lang="en-US" dirty="0"/>
          </a:p>
          <a:p>
            <a:r>
              <a:rPr lang="en-US" dirty="0"/>
              <a:t>Loss function (with data constraint):</a:t>
            </a:r>
          </a:p>
          <a:p>
            <a:r>
              <a:rPr lang="en-US" dirty="0"/>
              <a:t>Activation operator: (</a:t>
            </a:r>
            <a:r>
              <a:rPr lang="en-US" dirty="0" err="1"/>
              <a:t>adam</a:t>
            </a:r>
            <a:r>
              <a:rPr lang="en-US" dirty="0"/>
              <a:t>?)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476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25852-DADE-ADE0-E50A-673B6007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</a:t>
            </a:r>
          </a:p>
        </p:txBody>
      </p:sp>
      <p:pic>
        <p:nvPicPr>
          <p:cNvPr id="5" name="Content Placeholder 4" descr="A text on a page&#10;&#10;AI-generated content may be incorrect.">
            <a:extLst>
              <a:ext uri="{FF2B5EF4-FFF2-40B4-BE49-F238E27FC236}">
                <a16:creationId xmlns:a16="http://schemas.microsoft.com/office/drawing/2014/main" id="{1199B7D0-047B-098D-F7A3-8CB66EA809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tretch>
            <a:fillRect/>
          </a:stretch>
        </p:blipFill>
        <p:spPr>
          <a:xfrm>
            <a:off x="1263237" y="1825625"/>
            <a:ext cx="9665525" cy="4351338"/>
          </a:xfrm>
        </p:spPr>
      </p:pic>
    </p:spTree>
    <p:extLst>
      <p:ext uri="{BB962C8B-B14F-4D97-AF65-F5344CB8AC3E}">
        <p14:creationId xmlns:p14="http://schemas.microsoft.com/office/powerpoint/2010/main" val="580652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8E31A-C5CE-F5A3-000A-B630AE99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6EB551-A0C5-C72E-9F54-0A6982B28D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tretch>
            <a:fillRect/>
          </a:stretch>
        </p:blipFill>
        <p:spPr>
          <a:xfrm>
            <a:off x="3185308" y="1825625"/>
            <a:ext cx="5821384" cy="4351338"/>
          </a:xfrm>
        </p:spPr>
      </p:pic>
    </p:spTree>
    <p:extLst>
      <p:ext uri="{BB962C8B-B14F-4D97-AF65-F5344CB8AC3E}">
        <p14:creationId xmlns:p14="http://schemas.microsoft.com/office/powerpoint/2010/main" val="2608715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4B8A0-20E2-2833-0C05-3EBF0CE6C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Governing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7F58A5-DD54-9962-456C-3AB8DA6C2F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acc>
                  </m:oMath>
                </a14:m>
                <a:r>
                  <a:rPr lang="en-US" dirty="0"/>
                  <a:t> is the chemical reaction rate</a:t>
                </a:r>
              </a:p>
              <a:p>
                <a:r>
                  <a:rPr lang="en-US" dirty="0"/>
                  <a:t>Rho is density of species</a:t>
                </a:r>
              </a:p>
              <a:p>
                <a:r>
                  <a:rPr lang="en-US" dirty="0"/>
                  <a:t>Reaction PINN: </a:t>
                </a:r>
              </a:p>
              <a:p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Output: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7F58A5-DD54-9962-456C-3AB8DA6C2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DEAA420-959A-0B16-41A9-5BB8CB9540F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46900" y="1825625"/>
            <a:ext cx="440690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893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C1349-48B5-5779-6F48-3A9B93F06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Chemical reaction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E6B36-CC96-3644-BBF3-FC54C2A1E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A+B -k-&gt; 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NN(t,\theta) = [A(t),B(t),C(t)]; theta is the weight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K be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Trainable Parameter; can be optimized 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like weight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19CB8EA8-7FE1-7898-A8C7-7577404A67F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38200" y="2419350"/>
            <a:ext cx="24257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567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3EF82-9C53-9423-4C68-790B7B920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Chemical reaction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87E8D-28D0-E826-ABE7-B330588E4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in </a:t>
            </a:r>
            <a:r>
              <a:rPr lang="en-US" dirty="0" err="1"/>
              <a:t>yaml</a:t>
            </a:r>
            <a:r>
              <a:rPr lang="en-US" dirty="0"/>
              <a:t> file: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EBE920-257A-9D29-62D7-28E9F2095D83}"/>
              </a:ext>
            </a:extLst>
          </p:cNvPr>
          <p:cNvSpPr txBox="1"/>
          <p:nvPr/>
        </p:nvSpPr>
        <p:spPr>
          <a:xfrm>
            <a:off x="1138843" y="2419680"/>
            <a:ext cx="6043353" cy="1719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equation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A3069"/>
                </a:solidFill>
                <a:effectLst/>
                <a:latin typeface="Menlo" panose="020B0609030804020204" pitchFamily="49" charset="0"/>
              </a:rPr>
              <a:t>CO2 + M &lt;=&gt; CO + O + M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6E7781"/>
                </a:solidFill>
                <a:effectLst/>
                <a:latin typeface="Menlo" panose="020B0609030804020204" pitchFamily="49" charset="0"/>
              </a:rPr>
              <a:t># Reaction 1</a:t>
            </a:r>
            <a:endParaRPr lang="en-US" b="0" dirty="0">
              <a:solidFill>
                <a:srgbClr val="1F2328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A3069"/>
                </a:solidFill>
                <a:effectLst/>
                <a:latin typeface="Menlo" panose="020B0609030804020204" pitchFamily="49" charset="0"/>
              </a:rPr>
              <a:t>three-body</a:t>
            </a:r>
            <a:endParaRPr lang="en-US" b="0" dirty="0">
              <a:solidFill>
                <a:srgbClr val="1F2328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rate-constant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{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6.9e+20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-1.5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 err="1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Ea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1.2575e+05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efficiencies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{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CO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10.0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20.0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20.0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NO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10.0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O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20.0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C2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10.0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N2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10.0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CN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10.0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CO2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10.0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AR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1.0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O2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10.0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pic>
        <p:nvPicPr>
          <p:cNvPr id="7" name="Picture 6" descr="A math equation with a number and a circle&#10;&#10;AI-generated content may be incorrect.">
            <a:extLst>
              <a:ext uri="{FF2B5EF4-FFF2-40B4-BE49-F238E27FC236}">
                <a16:creationId xmlns:a16="http://schemas.microsoft.com/office/drawing/2014/main" id="{7F0C68D2-511C-D8DD-1A11-D9D40AF52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8" y="4510694"/>
            <a:ext cx="4895953" cy="16662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DEBD6D-5524-69AB-FA74-21B2F91F882C}"/>
              </a:ext>
            </a:extLst>
          </p:cNvPr>
          <p:cNvSpPr txBox="1"/>
          <p:nvPr/>
        </p:nvSpPr>
        <p:spPr>
          <a:xfrm>
            <a:off x="5843847" y="4604014"/>
            <a:ext cx="6101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units: {length: cm, quantity: mol, activation-energy: </a:t>
            </a:r>
            <a:r>
              <a:rPr lang="en-US" dirty="0" err="1"/>
              <a:t>cal</a:t>
            </a:r>
            <a:r>
              <a:rPr lang="en-US" dirty="0"/>
              <a:t>/mol}</a:t>
            </a:r>
          </a:p>
        </p:txBody>
      </p:sp>
      <p:pic>
        <p:nvPicPr>
          <p:cNvPr id="11" name="Picture 10" descr="A math equations with numbers&#10;&#10;AI-generated content may be incorrect.">
            <a:extLst>
              <a:ext uri="{FF2B5EF4-FFF2-40B4-BE49-F238E27FC236}">
                <a16:creationId xmlns:a16="http://schemas.microsoft.com/office/drawing/2014/main" id="{151F8ED8-BF10-E1C1-5CE1-B86121B52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825" y="5173056"/>
            <a:ext cx="18669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208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6D702-2613-38CD-7ACC-BD5AC5D19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B7C723-29A4-DEA0-B2D8-F578A292AB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tretch>
            <a:fillRect/>
          </a:stretch>
        </p:blipFill>
        <p:spPr>
          <a:xfrm>
            <a:off x="838200" y="1690688"/>
            <a:ext cx="2857500" cy="736600"/>
          </a:xfr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AD0B6C6C-CE4E-6A2C-FF5D-8920D9D6C64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38200" y="2427288"/>
            <a:ext cx="4787900" cy="1104900"/>
          </a:xfrm>
          <a:prstGeom prst="rect">
            <a:avLst/>
          </a:prstGeom>
        </p:spPr>
      </p:pic>
      <p:pic>
        <p:nvPicPr>
          <p:cNvPr id="9" name="Picture 8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76906217-F5E2-F2A7-BBE7-544ABBAFA3A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38200" y="3532188"/>
            <a:ext cx="5346700" cy="11303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CACD79-0272-461B-7F27-D8A9FF4402D4}"/>
              </a:ext>
            </a:extLst>
          </p:cNvPr>
          <p:cNvSpPr txBox="1"/>
          <p:nvPr/>
        </p:nvSpPr>
        <p:spPr>
          <a:xfrm>
            <a:off x="838200" y="5398056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=T6nHF3Pi9TM</a:t>
            </a:r>
          </a:p>
        </p:txBody>
      </p:sp>
    </p:spTree>
    <p:extLst>
      <p:ext uri="{BB962C8B-B14F-4D97-AF65-F5344CB8AC3E}">
        <p14:creationId xmlns:p14="http://schemas.microsoft.com/office/powerpoint/2010/main" val="2825688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23309</TotalTime>
  <Words>521</Words>
  <Application>Microsoft Macintosh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-webkit-standard</vt:lpstr>
      <vt:lpstr>ElsevierGulliver</vt:lpstr>
      <vt:lpstr>Aptos</vt:lpstr>
      <vt:lpstr>Aptos Display</vt:lpstr>
      <vt:lpstr>Arial</vt:lpstr>
      <vt:lpstr>Cambria Math</vt:lpstr>
      <vt:lpstr>Menlo</vt:lpstr>
      <vt:lpstr>Office Theme</vt:lpstr>
      <vt:lpstr>Surf </vt:lpstr>
      <vt:lpstr>PowerPoint Presentation</vt:lpstr>
      <vt:lpstr>PowerPoint Presentation</vt:lpstr>
      <vt:lpstr>Species cantera</vt:lpstr>
      <vt:lpstr>Temperature evolution</vt:lpstr>
      <vt:lpstr>PINN structure</vt:lpstr>
      <vt:lpstr>Loss function</vt:lpstr>
      <vt:lpstr>Loss function</vt:lpstr>
      <vt:lpstr>Governing equation</vt:lpstr>
      <vt:lpstr>Chemical reaction rate</vt:lpstr>
      <vt:lpstr>Chemical reaction rate</vt:lpstr>
      <vt:lpstr>Loss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Xiaoxi Zhou</dc:creator>
  <cp:lastModifiedBy>Xiaoxi Zhou</cp:lastModifiedBy>
  <cp:revision>3</cp:revision>
  <dcterms:created xsi:type="dcterms:W3CDTF">2025-11-29T08:07:18Z</dcterms:created>
  <dcterms:modified xsi:type="dcterms:W3CDTF">2026-01-10T09:10:35Z</dcterms:modified>
</cp:coreProperties>
</file>